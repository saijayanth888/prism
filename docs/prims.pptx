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1" r:id="rId6"/>
    <p:sldId id="260" r:id="rId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528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Enterprises today operate hundreds of platform tools — and they've built a fragile house of cards on top of name-matching. Prism solves that at the root. Let me show you 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enterprise runs 130 tools. The data from those tools constantly disagrees — not because teams are careless, but because the same service gets called five different things in five different systems. Every name-based matcher fails here. The cost: engineers spend 40% of their time navigating this fog instead of building.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CPT engine — Convergent Perspective Topology. Patent pending. Instead of matching by name, CPT fingerprints every entity by its topological shape: how it connects, what ports it exposes, how it behaves over time. Five weighted dimensions, a Hungarian-algorithm optimal alignment, and confidence-weighted truth resolution. The result: one unified knowledge graph that never lies.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isn't just data unification. Iris — our AI copilot — is graph-grounded by design. Every answer traces to a specific node. No hallucinations. And because we're model-agnostic, customers bring their own LLM. We're SOC2 ready, HIPAA-architecture ready, and deployed self-hosted so data never leaves the customer's network.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ships two ways: fully self-hosted inside your AWS, Azure, or on-prem environment — your data never leaves — or as a managed SaaS on Prism's infrastructure with DB-per-tenant isolation. Either way the architecture is identical: four layers, 13 connectors, and a Neo4j knowledge graph that is physically isolated per customer.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pilots in Year 1. Twenty customers in Year 2. The path to ten million ARR is clear. We're looking for design partners willing to deploy Prism in their environment and give us the feedback that sharpens it. The next step is a technical discovery call — let's find 30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FFFFFF">
              <a:alpha val="6000"/>
            </a:srgbClr>
          </a:solidFill>
          <a:ln/>
        </p:spPr>
        <p:txBody>
          <a:bodyPr/>
          <a:lstStyle/>
          <a:p>
            <a:endParaRPr lang="en-US"/>
          </a:p>
        </p:txBody>
      </p:sp>
      <p:sp>
        <p:nvSpPr>
          <p:cNvPr id="3" name="Shape 1"/>
          <p:cNvSpPr/>
          <p:nvPr/>
        </p:nvSpPr>
        <p:spPr>
          <a:xfrm>
            <a:off x="0" y="0"/>
            <a:ext cx="18287999" cy="10287000"/>
          </a:xfrm>
          <a:prstGeom prst="rect">
            <a:avLst/>
          </a:prstGeom>
          <a:solidFill>
            <a:srgbClr val="5E6AD2">
              <a:alpha val="8000"/>
            </a:srgbClr>
          </a:solidFill>
          <a:ln/>
        </p:spPr>
        <p:txBody>
          <a:bodyPr/>
          <a:lstStyle/>
          <a:p>
            <a:endParaRPr lang="en-US"/>
          </a:p>
        </p:txBody>
      </p:sp>
      <p:sp>
        <p:nvSpPr>
          <p:cNvPr id="4" name="Shape 2"/>
          <p:cNvSpPr/>
          <p:nvPr/>
        </p:nvSpPr>
        <p:spPr>
          <a:xfrm>
            <a:off x="762000" y="533346"/>
            <a:ext cx="495192" cy="495192"/>
          </a:xfrm>
          <a:prstGeom prst="roundRect">
            <a:avLst>
              <a:gd name="adj" fmla="val 26929"/>
            </a:avLst>
          </a:prstGeom>
          <a:solidFill>
            <a:srgbClr val="5E6AD2"/>
          </a:solidFill>
          <a:ln/>
          <a:effectLst>
            <a:outerShdw blurRad="228600" dist="50800" dir="16200000" algn="bl" rotWithShape="0">
              <a:srgbClr val="5E6AD2">
                <a:alpha val="4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85798" y="657144"/>
            <a:ext cx="247596" cy="247596"/>
          </a:xfrm>
          <a:prstGeom prst="rect">
            <a:avLst/>
          </a:prstGeom>
        </p:spPr>
      </p:pic>
      <p:sp>
        <p:nvSpPr>
          <p:cNvPr id="6" name="Text 3"/>
          <p:cNvSpPr/>
          <p:nvPr/>
        </p:nvSpPr>
        <p:spPr>
          <a:xfrm>
            <a:off x="1409538" y="594771"/>
            <a:ext cx="880684" cy="410441"/>
          </a:xfrm>
          <a:prstGeom prst="rect">
            <a:avLst/>
          </a:prstGeom>
          <a:noFill/>
          <a:ln/>
        </p:spPr>
        <p:txBody>
          <a:bodyPr wrap="square" lIns="25400" tIns="25400" rIns="25400" bIns="25400" rtlCol="0" anchor="t">
            <a:normAutofit/>
          </a:bodyPr>
          <a:lstStyle/>
          <a:p>
            <a:pPr marL="0" indent="0" algn="l">
              <a:buNone/>
            </a:pPr>
            <a:r>
              <a:rPr lang="en-US" sz="2400" b="1" kern="0" spc="-48" dirty="0">
                <a:solidFill>
                  <a:srgbClr val="EDEDF8"/>
                </a:solidFill>
                <a:latin typeface="Arial" pitchFamily="34" charset="0"/>
                <a:ea typeface="Arial" pitchFamily="34" charset="-122"/>
                <a:cs typeface="Arial" pitchFamily="34" charset="-120"/>
              </a:rPr>
              <a:t>prism</a:t>
            </a:r>
            <a:endParaRPr lang="en-US" sz="2400" dirty="0"/>
          </a:p>
        </p:txBody>
      </p:sp>
      <p:sp>
        <p:nvSpPr>
          <p:cNvPr id="7" name="Text 4"/>
          <p:cNvSpPr/>
          <p:nvPr/>
        </p:nvSpPr>
        <p:spPr>
          <a:xfrm>
            <a:off x="12258973" y="647673"/>
            <a:ext cx="5425038"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CONFIDENTIAL · APRIL 2026 · V2.0</a:t>
            </a:r>
            <a:endParaRPr lang="en-US" sz="1800" dirty="0"/>
          </a:p>
        </p:txBody>
      </p:sp>
      <p:sp>
        <p:nvSpPr>
          <p:cNvPr id="8" name="Text 5"/>
          <p:cNvSpPr/>
          <p:nvPr/>
        </p:nvSpPr>
        <p:spPr>
          <a:xfrm>
            <a:off x="5414245" y="2020139"/>
            <a:ext cx="7459375" cy="341168"/>
          </a:xfrm>
          <a:prstGeom prst="rect">
            <a:avLst/>
          </a:prstGeom>
          <a:noFill/>
          <a:ln/>
        </p:spPr>
        <p:txBody>
          <a:bodyPr wrap="square" lIns="25400" tIns="25400" rIns="25400" bIns="25400" rtlCol="0" anchor="t">
            <a:normAutofit/>
          </a:bodyPr>
          <a:lstStyle/>
          <a:p>
            <a:pPr marL="0" indent="0" algn="ctr">
              <a:buNone/>
            </a:pPr>
            <a:r>
              <a:rPr lang="en-US" sz="1800" kern="0" spc="216" dirty="0">
                <a:solidFill>
                  <a:srgbClr val="5E6AD2"/>
                </a:solidFill>
                <a:latin typeface="Arial" pitchFamily="34" charset="0"/>
                <a:ea typeface="Arial" pitchFamily="34" charset="-122"/>
                <a:cs typeface="Arial" pitchFamily="34" charset="-120"/>
              </a:rPr>
              <a:t>PLATFORM INTELLIGENCE · CPT ENGINE · IRIS AI</a:t>
            </a:r>
            <a:endParaRPr lang="en-US" sz="1800" dirty="0"/>
          </a:p>
        </p:txBody>
      </p:sp>
      <p:sp>
        <p:nvSpPr>
          <p:cNvPr id="9" name="Shape 6"/>
          <p:cNvSpPr/>
          <p:nvPr/>
        </p:nvSpPr>
        <p:spPr>
          <a:xfrm>
            <a:off x="12879180" y="2166937"/>
            <a:ext cx="762000" cy="9525"/>
          </a:xfrm>
          <a:prstGeom prst="rect">
            <a:avLst/>
          </a:prstGeom>
          <a:solidFill>
            <a:srgbClr val="5E6AD2"/>
          </a:solidFill>
          <a:ln/>
        </p:spPr>
        <p:txBody>
          <a:bodyPr/>
          <a:lstStyle/>
          <a:p>
            <a:endParaRPr lang="en-US"/>
          </a:p>
        </p:txBody>
      </p:sp>
      <p:sp>
        <p:nvSpPr>
          <p:cNvPr id="10" name="Text 7"/>
          <p:cNvSpPr/>
          <p:nvPr/>
        </p:nvSpPr>
        <p:spPr>
          <a:xfrm>
            <a:off x="2276475" y="2780380"/>
            <a:ext cx="13735050" cy="1957983"/>
          </a:xfrm>
          <a:prstGeom prst="rect">
            <a:avLst/>
          </a:prstGeom>
          <a:noFill/>
          <a:ln/>
        </p:spPr>
        <p:txBody>
          <a:bodyPr wrap="square" lIns="25400" tIns="25400" rIns="25400" bIns="25400" rtlCol="0" anchor="t">
            <a:normAutofit/>
          </a:bodyPr>
          <a:lstStyle/>
          <a:p>
            <a:pPr marL="0" indent="0" algn="ctr">
              <a:lnSpc>
                <a:spcPct val="105000"/>
              </a:lnSpc>
              <a:buNone/>
            </a:pPr>
            <a:r>
              <a:rPr lang="en-US" sz="7200" b="1" kern="0" spc="-216" dirty="0">
                <a:solidFill>
                  <a:srgbClr val="EDEDF8"/>
                </a:solidFill>
                <a:latin typeface="Arial" pitchFamily="34" charset="0"/>
                <a:ea typeface="Arial" pitchFamily="34" charset="-122"/>
                <a:cs typeface="Arial" pitchFamily="34" charset="-120"/>
              </a:rPr>
              <a:t>One truth for your entire infrastructure.</a:t>
            </a:r>
            <a:endParaRPr lang="en-US" sz="7200" dirty="0"/>
          </a:p>
        </p:txBody>
      </p:sp>
      <p:sp>
        <p:nvSpPr>
          <p:cNvPr id="11" name="Text 8"/>
          <p:cNvSpPr/>
          <p:nvPr/>
        </p:nvSpPr>
        <p:spPr>
          <a:xfrm>
            <a:off x="4729162" y="5081263"/>
            <a:ext cx="8829674" cy="1592677"/>
          </a:xfrm>
          <a:prstGeom prst="rect">
            <a:avLst/>
          </a:prstGeom>
          <a:noFill/>
          <a:ln/>
        </p:spPr>
        <p:txBody>
          <a:bodyPr wrap="square" lIns="25400" tIns="25400" rIns="25400" bIns="25400" rtlCol="0" anchor="t">
            <a:normAutofit/>
          </a:bodyPr>
          <a:lstStyle/>
          <a:p>
            <a:pPr marL="0" indent="0" algn="ctr">
              <a:lnSpc>
                <a:spcPct val="160000"/>
              </a:lnSpc>
              <a:buNone/>
            </a:pPr>
            <a:r>
              <a:rPr lang="en-US" sz="2550" dirty="0">
                <a:solidFill>
                  <a:srgbClr val="8888A8"/>
                </a:solidFill>
                <a:latin typeface="Arial" pitchFamily="34" charset="0"/>
                <a:ea typeface="Arial" pitchFamily="34" charset="-122"/>
                <a:cs typeface="Arial" pitchFamily="34" charset="-120"/>
              </a:rPr>
              <a:t>Prism builds a unified knowledge graph over your entire technology estate — 13+ platforms, 17 entity types, zero brittle configuration.</a:t>
            </a:r>
            <a:endParaRPr lang="en-US" sz="2550" dirty="0"/>
          </a:p>
        </p:txBody>
      </p:sp>
      <p:sp>
        <p:nvSpPr>
          <p:cNvPr id="12" name="Shape 9"/>
          <p:cNvSpPr/>
          <p:nvPr/>
        </p:nvSpPr>
        <p:spPr>
          <a:xfrm>
            <a:off x="2507754" y="7245359"/>
            <a:ext cx="4372164" cy="434578"/>
          </a:xfrm>
          <a:prstGeom prst="roundRect">
            <a:avLst>
              <a:gd name="adj" fmla="val 50000"/>
            </a:avLst>
          </a:prstGeom>
          <a:solidFill>
            <a:srgbClr val="5E6AD2">
              <a:alpha val="10000"/>
            </a:srgbClr>
          </a:solidFill>
          <a:ln w="8659">
            <a:solidFill>
              <a:srgbClr val="5E6AD2">
                <a:alpha val="40000"/>
              </a:srgbClr>
            </a:solidFill>
            <a:prstDash val="solid"/>
          </a:ln>
        </p:spPr>
        <p:txBody>
          <a:bodyPr/>
          <a:lstStyle/>
          <a:p>
            <a:endParaRPr lang="en-US"/>
          </a:p>
        </p:txBody>
      </p:sp>
      <p:sp>
        <p:nvSpPr>
          <p:cNvPr id="13" name="Text 10"/>
          <p:cNvSpPr/>
          <p:nvPr/>
        </p:nvSpPr>
        <p:spPr>
          <a:xfrm>
            <a:off x="2622281" y="7311168"/>
            <a:ext cx="4143111" cy="341060"/>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7170FF"/>
                </a:solidFill>
                <a:latin typeface="Arial" pitchFamily="34" charset="0"/>
                <a:ea typeface="Arial" pitchFamily="34" charset="-122"/>
                <a:cs typeface="Arial" pitchFamily="34" charset="-120"/>
              </a:rPr>
              <a:t>CPT Engine · Patent Pending</a:t>
            </a:r>
            <a:endParaRPr lang="en-US" sz="1800" dirty="0"/>
          </a:p>
        </p:txBody>
      </p:sp>
      <p:sp>
        <p:nvSpPr>
          <p:cNvPr id="14" name="Shape 11"/>
          <p:cNvSpPr/>
          <p:nvPr/>
        </p:nvSpPr>
        <p:spPr>
          <a:xfrm>
            <a:off x="7032264" y="7245359"/>
            <a:ext cx="4669279" cy="434578"/>
          </a:xfrm>
          <a:prstGeom prst="roundRect">
            <a:avLst>
              <a:gd name="adj" fmla="val 50000"/>
            </a:avLst>
          </a:prstGeom>
          <a:solidFill>
            <a:srgbClr val="22D3EE">
              <a:alpha val="8000"/>
            </a:srgbClr>
          </a:solidFill>
          <a:ln w="8659">
            <a:solidFill>
              <a:srgbClr val="22D3EE">
                <a:alpha val="30000"/>
              </a:srgbClr>
            </a:solidFill>
            <a:prstDash val="solid"/>
          </a:ln>
        </p:spPr>
        <p:txBody>
          <a:bodyPr/>
          <a:lstStyle/>
          <a:p>
            <a:endParaRPr lang="en-US"/>
          </a:p>
        </p:txBody>
      </p:sp>
      <p:sp>
        <p:nvSpPr>
          <p:cNvPr id="15" name="Text 12"/>
          <p:cNvSpPr/>
          <p:nvPr/>
        </p:nvSpPr>
        <p:spPr>
          <a:xfrm>
            <a:off x="7142334" y="7311168"/>
            <a:ext cx="4449139" cy="341060"/>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22D3EE"/>
                </a:solidFill>
                <a:latin typeface="Arial" pitchFamily="34" charset="0"/>
                <a:ea typeface="Arial" pitchFamily="34" charset="-122"/>
                <a:cs typeface="Arial" pitchFamily="34" charset="-120"/>
              </a:rPr>
              <a:t>Iris AI · Zero Hallucinations</a:t>
            </a:r>
            <a:endParaRPr lang="en-US" sz="1800" dirty="0"/>
          </a:p>
        </p:txBody>
      </p:sp>
      <p:sp>
        <p:nvSpPr>
          <p:cNvPr id="16" name="Shape 13"/>
          <p:cNvSpPr/>
          <p:nvPr/>
        </p:nvSpPr>
        <p:spPr>
          <a:xfrm>
            <a:off x="11853889" y="7245359"/>
            <a:ext cx="3926356" cy="434578"/>
          </a:xfrm>
          <a:prstGeom prst="roundRect">
            <a:avLst>
              <a:gd name="adj" fmla="val 50000"/>
            </a:avLst>
          </a:prstGeom>
          <a:solidFill>
            <a:srgbClr val="111118"/>
          </a:solidFill>
          <a:ln w="8659">
            <a:solidFill>
              <a:srgbClr val="FFFFFF">
                <a:alpha val="12000"/>
              </a:srgbClr>
            </a:solidFill>
            <a:prstDash val="solid"/>
          </a:ln>
        </p:spPr>
        <p:txBody>
          <a:bodyPr/>
          <a:lstStyle/>
          <a:p>
            <a:endParaRPr lang="en-US"/>
          </a:p>
        </p:txBody>
      </p:sp>
      <p:sp>
        <p:nvSpPr>
          <p:cNvPr id="17" name="Text 14"/>
          <p:cNvSpPr/>
          <p:nvPr/>
        </p:nvSpPr>
        <p:spPr>
          <a:xfrm>
            <a:off x="11975103" y="7311168"/>
            <a:ext cx="3683929" cy="341060"/>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8888A8"/>
                </a:solidFill>
                <a:latin typeface="Arial" pitchFamily="34" charset="0"/>
                <a:ea typeface="Arial" pitchFamily="34" charset="-122"/>
                <a:cs typeface="Arial" pitchFamily="34" charset="-120"/>
              </a:rPr>
              <a:t>Self-Hosted · SOC2 Ready</a:t>
            </a:r>
            <a:endParaRPr lang="en-US" sz="1800" dirty="0"/>
          </a:p>
        </p:txBody>
      </p:sp>
      <p:sp>
        <p:nvSpPr>
          <p:cNvPr id="18" name="Shape 15"/>
          <p:cNvSpPr/>
          <p:nvPr/>
        </p:nvSpPr>
        <p:spPr>
          <a:xfrm>
            <a:off x="6957850" y="7832283"/>
            <a:ext cx="4372164" cy="434578"/>
          </a:xfrm>
          <a:prstGeom prst="roundRect">
            <a:avLst>
              <a:gd name="adj" fmla="val 50000"/>
            </a:avLst>
          </a:prstGeom>
          <a:solidFill>
            <a:srgbClr val="111118"/>
          </a:solidFill>
          <a:ln w="8659">
            <a:solidFill>
              <a:srgbClr val="FFFFFF">
                <a:alpha val="12000"/>
              </a:srgbClr>
            </a:solidFill>
            <a:prstDash val="solid"/>
          </a:ln>
        </p:spPr>
        <p:txBody>
          <a:bodyPr/>
          <a:lstStyle/>
          <a:p>
            <a:endParaRPr lang="en-US"/>
          </a:p>
        </p:txBody>
      </p:sp>
      <p:sp>
        <p:nvSpPr>
          <p:cNvPr id="19" name="Text 16"/>
          <p:cNvSpPr/>
          <p:nvPr/>
        </p:nvSpPr>
        <p:spPr>
          <a:xfrm>
            <a:off x="7072376" y="7898092"/>
            <a:ext cx="4143111" cy="341060"/>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8888A8"/>
                </a:solidFill>
                <a:latin typeface="Arial" pitchFamily="34" charset="0"/>
                <a:ea typeface="Arial" pitchFamily="34" charset="-122"/>
                <a:cs typeface="Arial" pitchFamily="34" charset="-120"/>
              </a:rPr>
              <a:t>K8s-Native · Model-Agnostic</a:t>
            </a:r>
            <a:endParaRPr lang="en-US" sz="1800" dirty="0"/>
          </a:p>
        </p:txBody>
      </p:sp>
      <p:sp>
        <p:nvSpPr>
          <p:cNvPr id="20" name="Text 17"/>
          <p:cNvSpPr/>
          <p:nvPr/>
        </p:nvSpPr>
        <p:spPr>
          <a:xfrm>
            <a:off x="5507926" y="9467904"/>
            <a:ext cx="7490312" cy="315191"/>
          </a:xfrm>
          <a:prstGeom prst="rect">
            <a:avLst/>
          </a:prstGeom>
          <a:noFill/>
          <a:ln/>
        </p:spPr>
        <p:txBody>
          <a:bodyPr wrap="square" lIns="25400" tIns="25400" rIns="25400" bIns="25400" rtlCol="0" anchor="t">
            <a:normAutofit/>
          </a:bodyPr>
          <a:lstStyle/>
          <a:p>
            <a:pPr marL="0" indent="0" algn="l">
              <a:buNone/>
            </a:pPr>
            <a:r>
              <a:rPr lang="en-US" sz="1950" kern="0" spc="98" dirty="0">
                <a:solidFill>
                  <a:srgbClr val="42425A"/>
                </a:solidFill>
                <a:latin typeface="Arial" pitchFamily="34" charset="0"/>
                <a:ea typeface="Arial" pitchFamily="34" charset="-122"/>
                <a:cs typeface="Arial" pitchFamily="34" charset="-120"/>
              </a:rPr>
              <a:t>See Everything. Understand Everything. Secure Everything.</a:t>
            </a:r>
            <a:endParaRPr lang="en-US" sz="1950" dirty="0"/>
          </a:p>
        </p:txBody>
      </p:sp>
      <p:pic>
        <p:nvPicPr>
          <p:cNvPr id="21" name="Image 1" descr="preencoded.png"/>
          <p:cNvPicPr>
            <a:picLocks noChangeAspect="1"/>
          </p:cNvPicPr>
          <p:nvPr/>
        </p:nvPicPr>
        <p:blipFill>
          <a:blip r:embed="rId4"/>
          <a:stretch>
            <a:fillRect/>
          </a:stretch>
        </p:blipFill>
        <p:spPr>
          <a:xfrm>
            <a:off x="1143000" y="1524000"/>
            <a:ext cx="2095500" cy="1905000"/>
          </a:xfrm>
          <a:prstGeom prst="rect">
            <a:avLst/>
          </a:prstGeom>
        </p:spPr>
      </p:pic>
      <p:pic>
        <p:nvPicPr>
          <p:cNvPr id="22" name="Image 2" descr="preencoded.png"/>
          <p:cNvPicPr>
            <a:picLocks noChangeAspect="1"/>
          </p:cNvPicPr>
          <p:nvPr/>
        </p:nvPicPr>
        <p:blipFill>
          <a:blip r:embed="rId5"/>
          <a:stretch>
            <a:fillRect/>
          </a:stretch>
        </p:blipFill>
        <p:spPr>
          <a:xfrm>
            <a:off x="14668500" y="7013863"/>
            <a:ext cx="2667000" cy="228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FFFFFF">
              <a:alpha val="3000"/>
            </a:srgbClr>
          </a:solidFill>
          <a:ln/>
        </p:spPr>
        <p:txBody>
          <a:bodyPr/>
          <a:lstStyle/>
          <a:p>
            <a:endParaRPr lang="en-US"/>
          </a:p>
        </p:txBody>
      </p:sp>
      <p:sp>
        <p:nvSpPr>
          <p:cNvPr id="3" name="Shape 1"/>
          <p:cNvSpPr/>
          <p:nvPr/>
        </p:nvSpPr>
        <p:spPr>
          <a:xfrm>
            <a:off x="0" y="0"/>
            <a:ext cx="18287999" cy="10287000"/>
          </a:xfrm>
          <a:prstGeom prst="rect">
            <a:avLst/>
          </a:prstGeom>
          <a:solidFill>
            <a:srgbClr val="060609"/>
          </a:solidFill>
          <a:ln/>
        </p:spPr>
        <p:txBody>
          <a:bodyPr/>
          <a:lstStyle/>
          <a:p>
            <a:endParaRPr lang="en-US"/>
          </a:p>
        </p:txBody>
      </p:sp>
      <p:sp>
        <p:nvSpPr>
          <p:cNvPr id="4" name="Text 2"/>
          <p:cNvSpPr/>
          <p:nvPr/>
        </p:nvSpPr>
        <p:spPr>
          <a:xfrm>
            <a:off x="952500" y="857250"/>
            <a:ext cx="16874489"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THE ENTERPRISE PROBLEM</a:t>
            </a:r>
            <a:endParaRPr lang="en-US" sz="1800" dirty="0"/>
          </a:p>
        </p:txBody>
      </p:sp>
      <p:sp>
        <p:nvSpPr>
          <p:cNvPr id="5" name="Text 3"/>
          <p:cNvSpPr/>
          <p:nvPr/>
        </p:nvSpPr>
        <p:spPr>
          <a:xfrm>
            <a:off x="952500" y="1350818"/>
            <a:ext cx="16874489" cy="1379177"/>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120" dirty="0">
                <a:solidFill>
                  <a:srgbClr val="EDEDF8"/>
                </a:solidFill>
                <a:latin typeface="Arial" pitchFamily="34" charset="0"/>
                <a:ea typeface="Arial" pitchFamily="34" charset="-122"/>
                <a:cs typeface="Arial" pitchFamily="34" charset="-120"/>
              </a:rPr>
              <a:t>Your tools don't agree on what anything is called.</a:t>
            </a:r>
            <a:endParaRPr lang="en-US" sz="4800" dirty="0"/>
          </a:p>
        </p:txBody>
      </p:sp>
      <p:sp>
        <p:nvSpPr>
          <p:cNvPr id="6" name="Shape 4"/>
          <p:cNvSpPr/>
          <p:nvPr/>
        </p:nvSpPr>
        <p:spPr>
          <a:xfrm>
            <a:off x="952500" y="3244183"/>
            <a:ext cx="28548" cy="857250"/>
          </a:xfrm>
          <a:prstGeom prst="roundRect">
            <a:avLst>
              <a:gd name="adj" fmla="val 50000"/>
            </a:avLst>
          </a:prstGeom>
          <a:solidFill>
            <a:srgbClr val="5E6AD2"/>
          </a:solidFill>
          <a:ln/>
        </p:spPr>
        <p:txBody>
          <a:bodyPr/>
          <a:lstStyle/>
          <a:p>
            <a:endParaRPr lang="en-US"/>
          </a:p>
        </p:txBody>
      </p:sp>
      <p:sp>
        <p:nvSpPr>
          <p:cNvPr id="7" name="Text 5"/>
          <p:cNvSpPr/>
          <p:nvPr/>
        </p:nvSpPr>
        <p:spPr>
          <a:xfrm>
            <a:off x="1171548" y="3187087"/>
            <a:ext cx="8015410"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EDEDF8"/>
                </a:solidFill>
                <a:latin typeface="-apple-system" pitchFamily="34" charset="0"/>
                <a:ea typeface="-apple-system" pitchFamily="34" charset="-122"/>
                <a:cs typeface="-apple-system" pitchFamily="34" charset="-120"/>
              </a:rPr>
              <a:t>130+ platform tools per enterprise</a:t>
            </a:r>
            <a:endParaRPr lang="en-US" sz="2550" dirty="0"/>
          </a:p>
        </p:txBody>
      </p:sp>
      <p:sp>
        <p:nvSpPr>
          <p:cNvPr id="8" name="Text 6"/>
          <p:cNvSpPr/>
          <p:nvPr/>
        </p:nvSpPr>
        <p:spPr>
          <a:xfrm>
            <a:off x="1171548" y="3644260"/>
            <a:ext cx="8015410" cy="837984"/>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8888A8"/>
                </a:solidFill>
                <a:latin typeface="-apple-system" pitchFamily="34" charset="0"/>
                <a:ea typeface="-apple-system" pitchFamily="34" charset="-122"/>
                <a:cs typeface="-apple-system" pitchFamily="34" charset="-120"/>
              </a:rPr>
              <a:t>Each produces its own inventory. None agree on names, owners, or state.</a:t>
            </a:r>
            <a:endParaRPr lang="en-US" sz="2100" dirty="0"/>
          </a:p>
        </p:txBody>
      </p:sp>
      <p:sp>
        <p:nvSpPr>
          <p:cNvPr id="9" name="Shape 7"/>
          <p:cNvSpPr/>
          <p:nvPr/>
        </p:nvSpPr>
        <p:spPr>
          <a:xfrm>
            <a:off x="952500" y="4729758"/>
            <a:ext cx="28548" cy="857250"/>
          </a:xfrm>
          <a:prstGeom prst="roundRect">
            <a:avLst>
              <a:gd name="adj" fmla="val 50000"/>
            </a:avLst>
          </a:prstGeom>
          <a:solidFill>
            <a:srgbClr val="F87171"/>
          </a:solidFill>
          <a:ln/>
        </p:spPr>
        <p:txBody>
          <a:bodyPr/>
          <a:lstStyle/>
          <a:p>
            <a:endParaRPr lang="en-US"/>
          </a:p>
        </p:txBody>
      </p:sp>
      <p:sp>
        <p:nvSpPr>
          <p:cNvPr id="10" name="Text 8"/>
          <p:cNvSpPr/>
          <p:nvPr/>
        </p:nvSpPr>
        <p:spPr>
          <a:xfrm>
            <a:off x="1171548" y="4672662"/>
            <a:ext cx="8015410"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EDEDF8"/>
                </a:solidFill>
                <a:latin typeface="-apple-system" pitchFamily="34" charset="0"/>
                <a:ea typeface="-apple-system" pitchFamily="34" charset="-122"/>
                <a:cs typeface="-apple-system" pitchFamily="34" charset="-120"/>
              </a:rPr>
              <a:t>Same service. Five different names.</a:t>
            </a:r>
            <a:endParaRPr lang="en-US" sz="2550" dirty="0"/>
          </a:p>
        </p:txBody>
      </p:sp>
      <p:sp>
        <p:nvSpPr>
          <p:cNvPr id="11" name="Text 9"/>
          <p:cNvSpPr/>
          <p:nvPr/>
        </p:nvSpPr>
        <p:spPr>
          <a:xfrm>
            <a:off x="1171548" y="5129835"/>
            <a:ext cx="8015410" cy="1272562"/>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8888A8"/>
                </a:solidFill>
                <a:latin typeface="Arial" pitchFamily="34" charset="0"/>
                <a:ea typeface="Arial" pitchFamily="34" charset="-122"/>
                <a:cs typeface="Arial" pitchFamily="34" charset="-120"/>
              </a:rPr>
              <a:t>payments-svc · payment_service · PaymentService · payments · svc-pay </a:t>
            </a:r>
            <a:r>
              <a:rPr lang="en-US" sz="2100" dirty="0">
                <a:solidFill>
                  <a:srgbClr val="8888A8"/>
                </a:solidFill>
                <a:latin typeface="-apple-system" pitchFamily="34" charset="0"/>
                <a:ea typeface="-apple-system" pitchFamily="34" charset="-122"/>
                <a:cs typeface="-apple-system" pitchFamily="34" charset="-120"/>
              </a:rPr>
              <a:t>Name-matching breaks every time.</a:t>
            </a:r>
            <a:endParaRPr lang="en-US" sz="2100" dirty="0"/>
          </a:p>
        </p:txBody>
      </p:sp>
      <p:sp>
        <p:nvSpPr>
          <p:cNvPr id="12" name="Shape 10"/>
          <p:cNvSpPr/>
          <p:nvPr/>
        </p:nvSpPr>
        <p:spPr>
          <a:xfrm>
            <a:off x="952500" y="6649911"/>
            <a:ext cx="28548" cy="857250"/>
          </a:xfrm>
          <a:prstGeom prst="roundRect">
            <a:avLst>
              <a:gd name="adj" fmla="val 50000"/>
            </a:avLst>
          </a:prstGeom>
          <a:solidFill>
            <a:srgbClr val="FBBF24"/>
          </a:solidFill>
          <a:ln/>
        </p:spPr>
        <p:txBody>
          <a:bodyPr/>
          <a:lstStyle/>
          <a:p>
            <a:endParaRPr lang="en-US"/>
          </a:p>
        </p:txBody>
      </p:sp>
      <p:sp>
        <p:nvSpPr>
          <p:cNvPr id="13" name="Text 11"/>
          <p:cNvSpPr/>
          <p:nvPr/>
        </p:nvSpPr>
        <p:spPr>
          <a:xfrm>
            <a:off x="1171548" y="6592815"/>
            <a:ext cx="8015410"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EDEDF8"/>
                </a:solidFill>
                <a:latin typeface="-apple-system" pitchFamily="34" charset="0"/>
                <a:ea typeface="-apple-system" pitchFamily="34" charset="-122"/>
                <a:cs typeface="-apple-system" pitchFamily="34" charset="-120"/>
              </a:rPr>
              <a:t>40% of engineering time lost to context-switching</a:t>
            </a:r>
            <a:endParaRPr lang="en-US" sz="2550" dirty="0"/>
          </a:p>
        </p:txBody>
      </p:sp>
      <p:sp>
        <p:nvSpPr>
          <p:cNvPr id="14" name="Text 12"/>
          <p:cNvSpPr/>
          <p:nvPr/>
        </p:nvSpPr>
        <p:spPr>
          <a:xfrm>
            <a:off x="1171548" y="7049988"/>
            <a:ext cx="8015410" cy="837984"/>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8888A8"/>
                </a:solidFill>
                <a:latin typeface="-apple-system" pitchFamily="34" charset="0"/>
                <a:ea typeface="-apple-system" pitchFamily="34" charset="-122"/>
                <a:cs typeface="-apple-system" pitchFamily="34" charset="-120"/>
              </a:rPr>
              <a:t>Chasing down ownership, dependencies, and blast radius — manually, every incident.</a:t>
            </a:r>
            <a:endParaRPr lang="en-US" sz="2100" dirty="0"/>
          </a:p>
        </p:txBody>
      </p:sp>
      <p:sp>
        <p:nvSpPr>
          <p:cNvPr id="15" name="Shape 13"/>
          <p:cNvSpPr/>
          <p:nvPr/>
        </p:nvSpPr>
        <p:spPr>
          <a:xfrm>
            <a:off x="952500" y="8135486"/>
            <a:ext cx="28548" cy="857250"/>
          </a:xfrm>
          <a:prstGeom prst="roundRect">
            <a:avLst>
              <a:gd name="adj" fmla="val 50000"/>
            </a:avLst>
          </a:prstGeom>
          <a:solidFill>
            <a:srgbClr val="22D3EE"/>
          </a:solidFill>
          <a:ln/>
        </p:spPr>
        <p:txBody>
          <a:bodyPr/>
          <a:lstStyle/>
          <a:p>
            <a:endParaRPr lang="en-US"/>
          </a:p>
        </p:txBody>
      </p:sp>
      <p:sp>
        <p:nvSpPr>
          <p:cNvPr id="16" name="Text 14"/>
          <p:cNvSpPr/>
          <p:nvPr/>
        </p:nvSpPr>
        <p:spPr>
          <a:xfrm>
            <a:off x="1171548" y="8078391"/>
            <a:ext cx="8015410"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EDEDF8"/>
                </a:solidFill>
                <a:latin typeface="-apple-system" pitchFamily="34" charset="0"/>
                <a:ea typeface="-apple-system" pitchFamily="34" charset="-122"/>
                <a:cs typeface="-apple-system" pitchFamily="34" charset="-120"/>
              </a:rPr>
              <a:t>AI answers are ungrounded — and wrong</a:t>
            </a:r>
            <a:endParaRPr lang="en-US" sz="2550" dirty="0"/>
          </a:p>
        </p:txBody>
      </p:sp>
      <p:sp>
        <p:nvSpPr>
          <p:cNvPr id="17" name="Text 15"/>
          <p:cNvSpPr/>
          <p:nvPr/>
        </p:nvSpPr>
        <p:spPr>
          <a:xfrm>
            <a:off x="1171548" y="8535563"/>
            <a:ext cx="8015410" cy="837984"/>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8888A8"/>
                </a:solidFill>
                <a:latin typeface="-apple-system" pitchFamily="34" charset="0"/>
                <a:ea typeface="-apple-system" pitchFamily="34" charset="-122"/>
                <a:cs typeface="-apple-system" pitchFamily="34" charset="-120"/>
              </a:rPr>
              <a:t>Every general-purpose copilot hallucinates on infrastructure questions because it has no live graph.</a:t>
            </a:r>
            <a:endParaRPr lang="en-US" sz="2100" dirty="0"/>
          </a:p>
        </p:txBody>
      </p:sp>
      <p:sp>
        <p:nvSpPr>
          <p:cNvPr id="18" name="Shape 16"/>
          <p:cNvSpPr/>
          <p:nvPr/>
        </p:nvSpPr>
        <p:spPr>
          <a:xfrm>
            <a:off x="9334499" y="3187087"/>
            <a:ext cx="3886173" cy="2142043"/>
          </a:xfrm>
          <a:prstGeom prst="roundRect">
            <a:avLst>
              <a:gd name="adj" fmla="val 5336"/>
            </a:avLst>
          </a:prstGeom>
          <a:solidFill>
            <a:srgbClr val="111118"/>
          </a:solidFill>
          <a:ln w="8659">
            <a:solidFill>
              <a:srgbClr val="FFFFFF">
                <a:alpha val="6000"/>
              </a:srgbClr>
            </a:solidFill>
            <a:prstDash val="solid"/>
          </a:ln>
        </p:spPr>
        <p:txBody>
          <a:bodyPr/>
          <a:lstStyle/>
          <a:p>
            <a:endParaRPr lang="en-US"/>
          </a:p>
        </p:txBody>
      </p:sp>
      <p:sp>
        <p:nvSpPr>
          <p:cNvPr id="19" name="Text 17"/>
          <p:cNvSpPr/>
          <p:nvPr/>
        </p:nvSpPr>
        <p:spPr>
          <a:xfrm>
            <a:off x="9520500" y="3500438"/>
            <a:ext cx="3514172"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kern="0" spc="-180" dirty="0">
                <a:solidFill>
                  <a:srgbClr val="F87171"/>
                </a:solidFill>
                <a:latin typeface="Arial" pitchFamily="34" charset="0"/>
                <a:ea typeface="Arial" pitchFamily="34" charset="-122"/>
                <a:cs typeface="Arial" pitchFamily="34" charset="-120"/>
              </a:rPr>
              <a:t>40</a:t>
            </a:r>
            <a:r>
              <a:rPr lang="en-US" sz="3600" b="1" kern="0" spc="-180" dirty="0">
                <a:solidFill>
                  <a:srgbClr val="F87171"/>
                </a:solidFill>
                <a:latin typeface="Arial" pitchFamily="34" charset="0"/>
                <a:ea typeface="Arial" pitchFamily="34" charset="-122"/>
                <a:cs typeface="Arial" pitchFamily="34" charset="-120"/>
              </a:rPr>
              <a:t>%</a:t>
            </a:r>
            <a:endParaRPr lang="en-US" sz="6000" dirty="0"/>
          </a:p>
        </p:txBody>
      </p:sp>
      <p:sp>
        <p:nvSpPr>
          <p:cNvPr id="20" name="Text 18"/>
          <p:cNvSpPr/>
          <p:nvPr/>
        </p:nvSpPr>
        <p:spPr>
          <a:xfrm>
            <a:off x="9520500" y="4357687"/>
            <a:ext cx="3514172" cy="696191"/>
          </a:xfrm>
          <a:prstGeom prst="rect">
            <a:avLst/>
          </a:prstGeom>
          <a:noFill/>
          <a:ln/>
        </p:spPr>
        <p:txBody>
          <a:bodyPr wrap="square" lIns="25400" tIns="25400" rIns="25400" bIns="25400" rtlCol="0" anchor="t">
            <a:normAutofit/>
          </a:bodyPr>
          <a:lstStyle/>
          <a:p>
            <a:pPr marL="0" indent="0" algn="ctr">
              <a:buNone/>
            </a:pPr>
            <a:r>
              <a:rPr lang="en-US" sz="2100" dirty="0">
                <a:solidFill>
                  <a:srgbClr val="8888A8"/>
                </a:solidFill>
                <a:latin typeface="Arial" pitchFamily="34" charset="0"/>
                <a:ea typeface="Arial" pitchFamily="34" charset="-122"/>
                <a:cs typeface="Arial" pitchFamily="34" charset="-120"/>
              </a:rPr>
              <a:t>engineer time lost to tool fragmentation</a:t>
            </a:r>
            <a:endParaRPr lang="en-US" sz="2100" dirty="0"/>
          </a:p>
        </p:txBody>
      </p:sp>
      <p:sp>
        <p:nvSpPr>
          <p:cNvPr id="21" name="Shape 19"/>
          <p:cNvSpPr/>
          <p:nvPr/>
        </p:nvSpPr>
        <p:spPr>
          <a:xfrm>
            <a:off x="13449191" y="3187087"/>
            <a:ext cx="3886308" cy="2142043"/>
          </a:xfrm>
          <a:prstGeom prst="roundRect">
            <a:avLst>
              <a:gd name="adj" fmla="val 5336"/>
            </a:avLst>
          </a:prstGeom>
          <a:solidFill>
            <a:srgbClr val="111118"/>
          </a:solidFill>
          <a:ln w="8659">
            <a:solidFill>
              <a:srgbClr val="FFFFFF">
                <a:alpha val="6000"/>
              </a:srgbClr>
            </a:solidFill>
            <a:prstDash val="solid"/>
          </a:ln>
        </p:spPr>
        <p:txBody>
          <a:bodyPr/>
          <a:lstStyle/>
          <a:p>
            <a:endParaRPr lang="en-US"/>
          </a:p>
        </p:txBody>
      </p:sp>
      <p:sp>
        <p:nvSpPr>
          <p:cNvPr id="22" name="Text 20"/>
          <p:cNvSpPr/>
          <p:nvPr/>
        </p:nvSpPr>
        <p:spPr>
          <a:xfrm>
            <a:off x="13635190" y="3500438"/>
            <a:ext cx="3514311"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kern="0" spc="-180" dirty="0">
                <a:solidFill>
                  <a:srgbClr val="EDEDF8"/>
                </a:solidFill>
                <a:latin typeface="Arial" pitchFamily="34" charset="0"/>
                <a:ea typeface="Arial" pitchFamily="34" charset="-122"/>
                <a:cs typeface="Arial" pitchFamily="34" charset="-120"/>
              </a:rPr>
              <a:t>130</a:t>
            </a:r>
            <a:r>
              <a:rPr lang="en-US" sz="3600" b="1" kern="0" spc="-180" dirty="0">
                <a:solidFill>
                  <a:srgbClr val="EDEDF8"/>
                </a:solidFill>
                <a:latin typeface="Arial" pitchFamily="34" charset="0"/>
                <a:ea typeface="Arial" pitchFamily="34" charset="-122"/>
                <a:cs typeface="Arial" pitchFamily="34" charset="-120"/>
              </a:rPr>
              <a:t>+</a:t>
            </a:r>
            <a:endParaRPr lang="en-US" sz="6000" dirty="0"/>
          </a:p>
        </p:txBody>
      </p:sp>
      <p:sp>
        <p:nvSpPr>
          <p:cNvPr id="23" name="Text 21"/>
          <p:cNvSpPr/>
          <p:nvPr/>
        </p:nvSpPr>
        <p:spPr>
          <a:xfrm>
            <a:off x="13635190" y="4357687"/>
            <a:ext cx="3514311" cy="696191"/>
          </a:xfrm>
          <a:prstGeom prst="rect">
            <a:avLst/>
          </a:prstGeom>
          <a:noFill/>
          <a:ln/>
        </p:spPr>
        <p:txBody>
          <a:bodyPr wrap="square" lIns="25400" tIns="25400" rIns="25400" bIns="25400" rtlCol="0" anchor="t">
            <a:normAutofit/>
          </a:bodyPr>
          <a:lstStyle/>
          <a:p>
            <a:pPr marL="0" indent="0" algn="ctr">
              <a:buNone/>
            </a:pPr>
            <a:r>
              <a:rPr lang="en-US" sz="2100" dirty="0">
                <a:solidFill>
                  <a:srgbClr val="8888A8"/>
                </a:solidFill>
                <a:latin typeface="Arial" pitchFamily="34" charset="0"/>
                <a:ea typeface="Arial" pitchFamily="34" charset="-122"/>
                <a:cs typeface="Arial" pitchFamily="34" charset="-120"/>
              </a:rPr>
              <a:t>platform tools per enterprise</a:t>
            </a:r>
            <a:endParaRPr lang="en-US" sz="2100" dirty="0"/>
          </a:p>
        </p:txBody>
      </p:sp>
      <p:sp>
        <p:nvSpPr>
          <p:cNvPr id="24" name="Shape 22"/>
          <p:cNvSpPr/>
          <p:nvPr/>
        </p:nvSpPr>
        <p:spPr>
          <a:xfrm>
            <a:off x="9334499" y="5595802"/>
            <a:ext cx="8001000" cy="4467008"/>
          </a:xfrm>
          <a:prstGeom prst="roundRect">
            <a:avLst>
              <a:gd name="adj" fmla="val 2559"/>
            </a:avLst>
          </a:prstGeom>
          <a:solidFill>
            <a:srgbClr val="111118"/>
          </a:solidFill>
          <a:ln w="8659">
            <a:solidFill>
              <a:srgbClr val="FFFFFF">
                <a:alpha val="6000"/>
              </a:srgbClr>
            </a:solidFill>
            <a:prstDash val="solid"/>
          </a:ln>
        </p:spPr>
        <p:txBody>
          <a:bodyPr/>
          <a:lstStyle/>
          <a:p>
            <a:endParaRPr lang="en-US"/>
          </a:p>
        </p:txBody>
      </p:sp>
      <p:sp>
        <p:nvSpPr>
          <p:cNvPr id="25" name="Text 23"/>
          <p:cNvSpPr/>
          <p:nvPr/>
        </p:nvSpPr>
        <p:spPr>
          <a:xfrm>
            <a:off x="9724159" y="5947307"/>
            <a:ext cx="7438332"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NAME COLLISION IN THE WILD</a:t>
            </a:r>
            <a:endParaRPr lang="en-US" sz="1800" dirty="0"/>
          </a:p>
        </p:txBody>
      </p:sp>
      <p:sp>
        <p:nvSpPr>
          <p:cNvPr id="26" name="Shape 24"/>
          <p:cNvSpPr/>
          <p:nvPr/>
        </p:nvSpPr>
        <p:spPr>
          <a:xfrm>
            <a:off x="9724159" y="6440875"/>
            <a:ext cx="7221681" cy="3270430"/>
          </a:xfrm>
          <a:prstGeom prst="roundRect">
            <a:avLst>
              <a:gd name="adj" fmla="val 2330"/>
            </a:avLst>
          </a:prstGeom>
          <a:ln w="8659">
            <a:solidFill>
              <a:srgbClr val="FFFFFF">
                <a:alpha val="6000"/>
              </a:srgbClr>
            </a:solidFill>
            <a:prstDash val="solid"/>
          </a:ln>
        </p:spPr>
        <p:txBody>
          <a:bodyPr/>
          <a:lstStyle/>
          <a:p>
            <a:endParaRPr lang="en-US"/>
          </a:p>
        </p:txBody>
      </p:sp>
      <p:sp>
        <p:nvSpPr>
          <p:cNvPr id="27" name="Shape 25"/>
          <p:cNvSpPr/>
          <p:nvPr/>
        </p:nvSpPr>
        <p:spPr>
          <a:xfrm>
            <a:off x="9732818" y="6449534"/>
            <a:ext cx="7204363" cy="534969"/>
          </a:xfrm>
          <a:prstGeom prst="rect">
            <a:avLst/>
          </a:prstGeom>
          <a:solidFill>
            <a:srgbClr val="FFFFFF">
              <a:alpha val="3000"/>
            </a:srgbClr>
          </a:solidFill>
          <a:ln/>
        </p:spPr>
        <p:txBody>
          <a:bodyPr/>
          <a:lstStyle/>
          <a:p>
            <a:endParaRPr lang="en-US"/>
          </a:p>
        </p:txBody>
      </p:sp>
      <p:sp>
        <p:nvSpPr>
          <p:cNvPr id="28" name="Shape 26"/>
          <p:cNvSpPr/>
          <p:nvPr/>
        </p:nvSpPr>
        <p:spPr>
          <a:xfrm>
            <a:off x="11248158" y="6449534"/>
            <a:ext cx="9525" cy="534969"/>
          </a:xfrm>
          <a:prstGeom prst="rect">
            <a:avLst/>
          </a:prstGeom>
          <a:solidFill>
            <a:srgbClr val="FFFFFF">
              <a:alpha val="6000"/>
            </a:srgbClr>
          </a:solidFill>
          <a:ln/>
        </p:spPr>
        <p:txBody>
          <a:bodyPr/>
          <a:lstStyle/>
          <a:p>
            <a:endParaRPr lang="en-US"/>
          </a:p>
        </p:txBody>
      </p:sp>
      <p:sp>
        <p:nvSpPr>
          <p:cNvPr id="29" name="Text 27"/>
          <p:cNvSpPr/>
          <p:nvPr/>
        </p:nvSpPr>
        <p:spPr>
          <a:xfrm>
            <a:off x="9904268" y="6582884"/>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Platform</a:t>
            </a:r>
            <a:endParaRPr lang="en-US" sz="1800" dirty="0"/>
          </a:p>
        </p:txBody>
      </p:sp>
      <p:sp>
        <p:nvSpPr>
          <p:cNvPr id="30" name="Text 28"/>
          <p:cNvSpPr/>
          <p:nvPr/>
        </p:nvSpPr>
        <p:spPr>
          <a:xfrm>
            <a:off x="11428268" y="6582884"/>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Entity name</a:t>
            </a:r>
            <a:endParaRPr lang="en-US" sz="1800" dirty="0"/>
          </a:p>
        </p:txBody>
      </p:sp>
      <p:sp>
        <p:nvSpPr>
          <p:cNvPr id="31" name="Shape 29"/>
          <p:cNvSpPr/>
          <p:nvPr/>
        </p:nvSpPr>
        <p:spPr>
          <a:xfrm>
            <a:off x="9732818" y="6984504"/>
            <a:ext cx="7204363" cy="9525"/>
          </a:xfrm>
          <a:prstGeom prst="rect">
            <a:avLst/>
          </a:prstGeom>
          <a:solidFill>
            <a:srgbClr val="FFFFFF">
              <a:alpha val="6000"/>
            </a:srgbClr>
          </a:solidFill>
          <a:ln/>
        </p:spPr>
        <p:txBody>
          <a:bodyPr/>
          <a:lstStyle/>
          <a:p>
            <a:endParaRPr lang="en-US"/>
          </a:p>
        </p:txBody>
      </p:sp>
      <p:sp>
        <p:nvSpPr>
          <p:cNvPr id="32" name="Shape 30"/>
          <p:cNvSpPr/>
          <p:nvPr/>
        </p:nvSpPr>
        <p:spPr>
          <a:xfrm>
            <a:off x="11248158" y="6993163"/>
            <a:ext cx="9525" cy="534969"/>
          </a:xfrm>
          <a:prstGeom prst="rect">
            <a:avLst/>
          </a:prstGeom>
          <a:solidFill>
            <a:srgbClr val="FFFFFF">
              <a:alpha val="6000"/>
            </a:srgbClr>
          </a:solidFill>
          <a:ln/>
        </p:spPr>
        <p:txBody>
          <a:bodyPr/>
          <a:lstStyle/>
          <a:p>
            <a:endParaRPr lang="en-US"/>
          </a:p>
        </p:txBody>
      </p:sp>
      <p:sp>
        <p:nvSpPr>
          <p:cNvPr id="33" name="Text 31"/>
          <p:cNvSpPr/>
          <p:nvPr/>
        </p:nvSpPr>
        <p:spPr>
          <a:xfrm>
            <a:off x="9904268" y="7126513"/>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3B82F6"/>
                </a:solidFill>
                <a:latin typeface="Arial" pitchFamily="34" charset="0"/>
                <a:ea typeface="Arial" pitchFamily="34" charset="-122"/>
                <a:cs typeface="Arial" pitchFamily="34" charset="-120"/>
              </a:rPr>
              <a:t>K8s</a:t>
            </a:r>
            <a:endParaRPr lang="en-US" sz="1800" dirty="0"/>
          </a:p>
        </p:txBody>
      </p:sp>
      <p:sp>
        <p:nvSpPr>
          <p:cNvPr id="34" name="Text 32"/>
          <p:cNvSpPr/>
          <p:nvPr/>
        </p:nvSpPr>
        <p:spPr>
          <a:xfrm>
            <a:off x="11428268" y="7126513"/>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EDEDF8"/>
                </a:solidFill>
                <a:latin typeface="Arial" pitchFamily="34" charset="0"/>
                <a:ea typeface="Arial" pitchFamily="34" charset="-122"/>
                <a:cs typeface="Arial" pitchFamily="34" charset="-120"/>
              </a:rPr>
              <a:t>payments-svc</a:t>
            </a:r>
            <a:endParaRPr lang="en-US" sz="1800" dirty="0"/>
          </a:p>
        </p:txBody>
      </p:sp>
      <p:sp>
        <p:nvSpPr>
          <p:cNvPr id="35" name="Shape 33"/>
          <p:cNvSpPr/>
          <p:nvPr/>
        </p:nvSpPr>
        <p:spPr>
          <a:xfrm>
            <a:off x="9732818" y="7528132"/>
            <a:ext cx="7204363" cy="9525"/>
          </a:xfrm>
          <a:prstGeom prst="rect">
            <a:avLst/>
          </a:prstGeom>
          <a:solidFill>
            <a:srgbClr val="FFFFFF">
              <a:alpha val="6000"/>
            </a:srgbClr>
          </a:solidFill>
          <a:ln/>
        </p:spPr>
        <p:txBody>
          <a:bodyPr/>
          <a:lstStyle/>
          <a:p>
            <a:endParaRPr lang="en-US"/>
          </a:p>
        </p:txBody>
      </p:sp>
      <p:sp>
        <p:nvSpPr>
          <p:cNvPr id="36" name="Shape 34"/>
          <p:cNvSpPr/>
          <p:nvPr/>
        </p:nvSpPr>
        <p:spPr>
          <a:xfrm>
            <a:off x="11248158" y="7536791"/>
            <a:ext cx="9525" cy="534969"/>
          </a:xfrm>
          <a:prstGeom prst="rect">
            <a:avLst/>
          </a:prstGeom>
          <a:solidFill>
            <a:srgbClr val="FFFFFF">
              <a:alpha val="6000"/>
            </a:srgbClr>
          </a:solidFill>
          <a:ln/>
        </p:spPr>
        <p:txBody>
          <a:bodyPr/>
          <a:lstStyle/>
          <a:p>
            <a:endParaRPr lang="en-US"/>
          </a:p>
        </p:txBody>
      </p:sp>
      <p:sp>
        <p:nvSpPr>
          <p:cNvPr id="37" name="Text 35"/>
          <p:cNvSpPr/>
          <p:nvPr/>
        </p:nvSpPr>
        <p:spPr>
          <a:xfrm>
            <a:off x="9904268" y="7670141"/>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10B981"/>
                </a:solidFill>
                <a:latin typeface="Arial" pitchFamily="34" charset="0"/>
                <a:ea typeface="Arial" pitchFamily="34" charset="-122"/>
                <a:cs typeface="Arial" pitchFamily="34" charset="-120"/>
              </a:rPr>
              <a:t>GitHub</a:t>
            </a:r>
            <a:endParaRPr lang="en-US" sz="1800" dirty="0"/>
          </a:p>
        </p:txBody>
      </p:sp>
      <p:sp>
        <p:nvSpPr>
          <p:cNvPr id="38" name="Text 36"/>
          <p:cNvSpPr/>
          <p:nvPr/>
        </p:nvSpPr>
        <p:spPr>
          <a:xfrm>
            <a:off x="11428268" y="7670141"/>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EDEDF8"/>
                </a:solidFill>
                <a:latin typeface="Arial" pitchFamily="34" charset="0"/>
                <a:ea typeface="Arial" pitchFamily="34" charset="-122"/>
                <a:cs typeface="Arial" pitchFamily="34" charset="-120"/>
              </a:rPr>
              <a:t>payment_service</a:t>
            </a:r>
            <a:endParaRPr lang="en-US" sz="1800" dirty="0"/>
          </a:p>
        </p:txBody>
      </p:sp>
      <p:sp>
        <p:nvSpPr>
          <p:cNvPr id="39" name="Shape 37"/>
          <p:cNvSpPr/>
          <p:nvPr/>
        </p:nvSpPr>
        <p:spPr>
          <a:xfrm>
            <a:off x="9732818" y="8071761"/>
            <a:ext cx="7204363" cy="9525"/>
          </a:xfrm>
          <a:prstGeom prst="rect">
            <a:avLst/>
          </a:prstGeom>
          <a:solidFill>
            <a:srgbClr val="FFFFFF">
              <a:alpha val="6000"/>
            </a:srgbClr>
          </a:solidFill>
          <a:ln/>
        </p:spPr>
        <p:txBody>
          <a:bodyPr/>
          <a:lstStyle/>
          <a:p>
            <a:endParaRPr lang="en-US"/>
          </a:p>
        </p:txBody>
      </p:sp>
      <p:sp>
        <p:nvSpPr>
          <p:cNvPr id="40" name="Shape 38"/>
          <p:cNvSpPr/>
          <p:nvPr/>
        </p:nvSpPr>
        <p:spPr>
          <a:xfrm>
            <a:off x="11248158" y="8080420"/>
            <a:ext cx="9525" cy="534969"/>
          </a:xfrm>
          <a:prstGeom prst="rect">
            <a:avLst/>
          </a:prstGeom>
          <a:solidFill>
            <a:srgbClr val="FFFFFF">
              <a:alpha val="6000"/>
            </a:srgbClr>
          </a:solidFill>
          <a:ln/>
        </p:spPr>
        <p:txBody>
          <a:bodyPr/>
          <a:lstStyle/>
          <a:p>
            <a:endParaRPr lang="en-US"/>
          </a:p>
        </p:txBody>
      </p:sp>
      <p:sp>
        <p:nvSpPr>
          <p:cNvPr id="41" name="Text 39"/>
          <p:cNvSpPr/>
          <p:nvPr/>
        </p:nvSpPr>
        <p:spPr>
          <a:xfrm>
            <a:off x="9904268" y="8213770"/>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6366F1"/>
                </a:solidFill>
                <a:latin typeface="Arial" pitchFamily="34" charset="0"/>
                <a:ea typeface="Arial" pitchFamily="34" charset="-122"/>
                <a:cs typeface="Arial" pitchFamily="34" charset="-120"/>
              </a:rPr>
              <a:t>Datadog</a:t>
            </a:r>
            <a:endParaRPr lang="en-US" sz="1800" dirty="0"/>
          </a:p>
        </p:txBody>
      </p:sp>
      <p:sp>
        <p:nvSpPr>
          <p:cNvPr id="42" name="Text 40"/>
          <p:cNvSpPr/>
          <p:nvPr/>
        </p:nvSpPr>
        <p:spPr>
          <a:xfrm>
            <a:off x="11428268" y="8213770"/>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EDEDF8"/>
                </a:solidFill>
                <a:latin typeface="Arial" pitchFamily="34" charset="0"/>
                <a:ea typeface="Arial" pitchFamily="34" charset="-122"/>
                <a:cs typeface="Arial" pitchFamily="34" charset="-120"/>
              </a:rPr>
              <a:t>PaymentService</a:t>
            </a:r>
            <a:endParaRPr lang="en-US" sz="1800" dirty="0"/>
          </a:p>
        </p:txBody>
      </p:sp>
      <p:sp>
        <p:nvSpPr>
          <p:cNvPr id="43" name="Shape 41"/>
          <p:cNvSpPr/>
          <p:nvPr/>
        </p:nvSpPr>
        <p:spPr>
          <a:xfrm>
            <a:off x="9732818" y="8615389"/>
            <a:ext cx="7204363" cy="9525"/>
          </a:xfrm>
          <a:prstGeom prst="rect">
            <a:avLst/>
          </a:prstGeom>
          <a:solidFill>
            <a:srgbClr val="FFFFFF">
              <a:alpha val="6000"/>
            </a:srgbClr>
          </a:solidFill>
          <a:ln/>
        </p:spPr>
        <p:txBody>
          <a:bodyPr/>
          <a:lstStyle/>
          <a:p>
            <a:endParaRPr lang="en-US"/>
          </a:p>
        </p:txBody>
      </p:sp>
      <p:sp>
        <p:nvSpPr>
          <p:cNvPr id="44" name="Shape 42"/>
          <p:cNvSpPr/>
          <p:nvPr/>
        </p:nvSpPr>
        <p:spPr>
          <a:xfrm>
            <a:off x="11248158" y="8624049"/>
            <a:ext cx="9525" cy="534969"/>
          </a:xfrm>
          <a:prstGeom prst="rect">
            <a:avLst/>
          </a:prstGeom>
          <a:solidFill>
            <a:srgbClr val="FFFFFF">
              <a:alpha val="6000"/>
            </a:srgbClr>
          </a:solidFill>
          <a:ln/>
        </p:spPr>
        <p:txBody>
          <a:bodyPr/>
          <a:lstStyle/>
          <a:p>
            <a:endParaRPr lang="en-US"/>
          </a:p>
        </p:txBody>
      </p:sp>
      <p:sp>
        <p:nvSpPr>
          <p:cNvPr id="45" name="Text 43"/>
          <p:cNvSpPr/>
          <p:nvPr/>
        </p:nvSpPr>
        <p:spPr>
          <a:xfrm>
            <a:off x="9904268" y="8757399"/>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F59E0B"/>
                </a:solidFill>
                <a:latin typeface="Arial" pitchFamily="34" charset="0"/>
                <a:ea typeface="Arial" pitchFamily="34" charset="-122"/>
                <a:cs typeface="Arial" pitchFamily="34" charset="-120"/>
              </a:rPr>
              <a:t>ServiceNow</a:t>
            </a:r>
            <a:endParaRPr lang="en-US" sz="1800" dirty="0"/>
          </a:p>
        </p:txBody>
      </p:sp>
      <p:sp>
        <p:nvSpPr>
          <p:cNvPr id="46" name="Text 44"/>
          <p:cNvSpPr/>
          <p:nvPr/>
        </p:nvSpPr>
        <p:spPr>
          <a:xfrm>
            <a:off x="11428268" y="8757399"/>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EDEDF8"/>
                </a:solidFill>
                <a:latin typeface="Arial" pitchFamily="34" charset="0"/>
                <a:ea typeface="Arial" pitchFamily="34" charset="-122"/>
                <a:cs typeface="Arial" pitchFamily="34" charset="-120"/>
              </a:rPr>
              <a:t>svc-pay</a:t>
            </a:r>
            <a:endParaRPr lang="en-US" sz="1800" dirty="0"/>
          </a:p>
        </p:txBody>
      </p:sp>
      <p:sp>
        <p:nvSpPr>
          <p:cNvPr id="47" name="Shape 45"/>
          <p:cNvSpPr/>
          <p:nvPr/>
        </p:nvSpPr>
        <p:spPr>
          <a:xfrm>
            <a:off x="9732818" y="9159018"/>
            <a:ext cx="7204363" cy="543629"/>
          </a:xfrm>
          <a:prstGeom prst="rect">
            <a:avLst/>
          </a:prstGeom>
          <a:solidFill>
            <a:srgbClr val="5E6AD2">
              <a:alpha val="6000"/>
            </a:srgbClr>
          </a:solidFill>
          <a:ln/>
        </p:spPr>
        <p:txBody>
          <a:bodyPr/>
          <a:lstStyle/>
          <a:p>
            <a:endParaRPr lang="en-US"/>
          </a:p>
        </p:txBody>
      </p:sp>
      <p:sp>
        <p:nvSpPr>
          <p:cNvPr id="48" name="Shape 46"/>
          <p:cNvSpPr/>
          <p:nvPr/>
        </p:nvSpPr>
        <p:spPr>
          <a:xfrm>
            <a:off x="9732818" y="9159018"/>
            <a:ext cx="7204363" cy="9525"/>
          </a:xfrm>
          <a:prstGeom prst="rect">
            <a:avLst/>
          </a:prstGeom>
          <a:solidFill>
            <a:srgbClr val="FFFFFF">
              <a:alpha val="6000"/>
            </a:srgbClr>
          </a:solidFill>
          <a:ln/>
        </p:spPr>
        <p:txBody>
          <a:bodyPr/>
          <a:lstStyle/>
          <a:p>
            <a:endParaRPr lang="en-US"/>
          </a:p>
        </p:txBody>
      </p:sp>
      <p:sp>
        <p:nvSpPr>
          <p:cNvPr id="49" name="Shape 47"/>
          <p:cNvSpPr/>
          <p:nvPr/>
        </p:nvSpPr>
        <p:spPr>
          <a:xfrm>
            <a:off x="11248158" y="9167677"/>
            <a:ext cx="9525" cy="534969"/>
          </a:xfrm>
          <a:prstGeom prst="rect">
            <a:avLst/>
          </a:prstGeom>
          <a:solidFill>
            <a:srgbClr val="FFFFFF">
              <a:alpha val="6000"/>
            </a:srgbClr>
          </a:solidFill>
          <a:ln/>
        </p:spPr>
        <p:txBody>
          <a:bodyPr/>
          <a:lstStyle/>
          <a:p>
            <a:endParaRPr lang="en-US"/>
          </a:p>
        </p:txBody>
      </p:sp>
      <p:sp>
        <p:nvSpPr>
          <p:cNvPr id="50" name="Text 48"/>
          <p:cNvSpPr/>
          <p:nvPr/>
        </p:nvSpPr>
        <p:spPr>
          <a:xfrm>
            <a:off x="9904268" y="9301027"/>
            <a:ext cx="1248641" cy="306369"/>
          </a:xfrm>
          <a:prstGeom prst="rect">
            <a:avLst/>
          </a:prstGeom>
          <a:noFill/>
          <a:ln/>
        </p:spPr>
        <p:txBody>
          <a:bodyPr wrap="square" lIns="25400" tIns="25400" rIns="25400" bIns="25400" rtlCol="0" anchor="t">
            <a:normAutofit/>
          </a:bodyPr>
          <a:lstStyle/>
          <a:p>
            <a:pPr marL="0" indent="0" algn="l">
              <a:buNone/>
            </a:pPr>
            <a:r>
              <a:rPr lang="en-US" sz="1800" dirty="0">
                <a:solidFill>
                  <a:srgbClr val="5E6AD2"/>
                </a:solidFill>
                <a:latin typeface="Arial" pitchFamily="34" charset="0"/>
                <a:ea typeface="Arial" pitchFamily="34" charset="-122"/>
                <a:cs typeface="Arial" pitchFamily="34" charset="-120"/>
              </a:rPr>
              <a:t>prism</a:t>
            </a:r>
            <a:endParaRPr lang="en-US" sz="1800" dirty="0"/>
          </a:p>
        </p:txBody>
      </p:sp>
      <p:sp>
        <p:nvSpPr>
          <p:cNvPr id="51" name="Text 49"/>
          <p:cNvSpPr/>
          <p:nvPr/>
        </p:nvSpPr>
        <p:spPr>
          <a:xfrm>
            <a:off x="11428268" y="9301027"/>
            <a:ext cx="5507874" cy="306369"/>
          </a:xfrm>
          <a:prstGeom prst="rect">
            <a:avLst/>
          </a:prstGeom>
          <a:noFill/>
          <a:ln/>
        </p:spPr>
        <p:txBody>
          <a:bodyPr wrap="square" lIns="25400" tIns="25400" rIns="25400" bIns="25400" rtlCol="0" anchor="t">
            <a:normAutofit/>
          </a:bodyPr>
          <a:lstStyle/>
          <a:p>
            <a:pPr marL="0" indent="0" algn="l">
              <a:buNone/>
            </a:pPr>
            <a:r>
              <a:rPr lang="en-US" sz="1800" dirty="0">
                <a:solidFill>
                  <a:srgbClr val="7170FF"/>
                </a:solidFill>
                <a:latin typeface="Arial" pitchFamily="34" charset="0"/>
                <a:ea typeface="Arial" pitchFamily="34" charset="-122"/>
                <a:cs typeface="Arial" pitchFamily="34" charset="-120"/>
              </a:rPr>
              <a:t>payments · 1 entity resolved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060609"/>
          </a:solidFill>
          <a:ln/>
        </p:spPr>
        <p:txBody>
          <a:bodyPr/>
          <a:lstStyle/>
          <a:p>
            <a:endParaRPr lang="en-US"/>
          </a:p>
        </p:txBody>
      </p:sp>
      <p:sp>
        <p:nvSpPr>
          <p:cNvPr id="3" name="Shape 1"/>
          <p:cNvSpPr/>
          <p:nvPr/>
        </p:nvSpPr>
        <p:spPr>
          <a:xfrm>
            <a:off x="0" y="0"/>
            <a:ext cx="18287999" cy="10287000"/>
          </a:xfrm>
          <a:prstGeom prst="rect">
            <a:avLst/>
          </a:prstGeom>
          <a:solidFill>
            <a:srgbClr val="FFFFFF">
              <a:alpha val="2000"/>
            </a:srgbClr>
          </a:solidFill>
          <a:ln/>
        </p:spPr>
        <p:txBody>
          <a:bodyPr/>
          <a:lstStyle/>
          <a:p>
            <a:endParaRPr lang="en-US"/>
          </a:p>
        </p:txBody>
      </p:sp>
      <p:sp>
        <p:nvSpPr>
          <p:cNvPr id="4" name="Shape 2"/>
          <p:cNvSpPr/>
          <p:nvPr/>
        </p:nvSpPr>
        <p:spPr>
          <a:xfrm>
            <a:off x="0" y="0"/>
            <a:ext cx="18287999" cy="10287000"/>
          </a:xfrm>
          <a:prstGeom prst="rect">
            <a:avLst/>
          </a:prstGeom>
          <a:solidFill>
            <a:srgbClr val="5E6AD2">
              <a:alpha val="7000"/>
            </a:srgbClr>
          </a:solidFill>
          <a:ln/>
        </p:spPr>
        <p:txBody>
          <a:bodyPr/>
          <a:lstStyle/>
          <a:p>
            <a:endParaRPr lang="en-US"/>
          </a:p>
        </p:txBody>
      </p:sp>
      <p:sp>
        <p:nvSpPr>
          <p:cNvPr id="5" name="Text 3"/>
          <p:cNvSpPr/>
          <p:nvPr/>
        </p:nvSpPr>
        <p:spPr>
          <a:xfrm>
            <a:off x="952500" y="857250"/>
            <a:ext cx="10752665"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E6AD2"/>
                </a:solidFill>
                <a:latin typeface="Arial" pitchFamily="34" charset="0"/>
                <a:ea typeface="Arial" pitchFamily="34" charset="-122"/>
                <a:cs typeface="Arial" pitchFamily="34" charset="-120"/>
              </a:rPr>
              <a:t>CPT ENGINE · PATENT PENDING</a:t>
            </a:r>
            <a:endParaRPr lang="en-US" sz="1800" dirty="0"/>
          </a:p>
        </p:txBody>
      </p:sp>
      <p:sp>
        <p:nvSpPr>
          <p:cNvPr id="6" name="Text 4"/>
          <p:cNvSpPr/>
          <p:nvPr/>
        </p:nvSpPr>
        <p:spPr>
          <a:xfrm>
            <a:off x="952500" y="1350818"/>
            <a:ext cx="10752665" cy="1379177"/>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120" dirty="0">
                <a:solidFill>
                  <a:srgbClr val="EDEDF8"/>
                </a:solidFill>
                <a:latin typeface="Arial" pitchFamily="34" charset="0"/>
                <a:ea typeface="Arial" pitchFamily="34" charset="-122"/>
                <a:cs typeface="Arial" pitchFamily="34" charset="-120"/>
              </a:rPr>
              <a:t>Match by shape, not by name.</a:t>
            </a:r>
            <a:endParaRPr lang="en-US" sz="4800" dirty="0"/>
          </a:p>
        </p:txBody>
      </p:sp>
      <p:sp>
        <p:nvSpPr>
          <p:cNvPr id="7" name="Text 5"/>
          <p:cNvSpPr/>
          <p:nvPr/>
        </p:nvSpPr>
        <p:spPr>
          <a:xfrm>
            <a:off x="952500" y="2882395"/>
            <a:ext cx="6671310" cy="1744482"/>
          </a:xfrm>
          <a:prstGeom prst="rect">
            <a:avLst/>
          </a:prstGeom>
          <a:noFill/>
          <a:ln/>
        </p:spPr>
        <p:txBody>
          <a:bodyPr wrap="square" lIns="25400" tIns="25400" rIns="25400" bIns="25400" rtlCol="0" anchor="t">
            <a:normAutofit/>
          </a:bodyPr>
          <a:lstStyle/>
          <a:p>
            <a:pPr marL="0" indent="0" algn="l">
              <a:lnSpc>
                <a:spcPct val="160000"/>
              </a:lnSpc>
              <a:buNone/>
            </a:pPr>
            <a:r>
              <a:rPr lang="en-US" sz="2100" dirty="0">
                <a:solidFill>
                  <a:srgbClr val="8888A8"/>
                </a:solidFill>
                <a:latin typeface="-apple-system" pitchFamily="34" charset="0"/>
                <a:ea typeface="-apple-system" pitchFamily="34" charset="-122"/>
                <a:cs typeface="-apple-system" pitchFamily="34" charset="-120"/>
              </a:rPr>
              <a:t>Every competitor uses name-matching. It breaks every time. CPT fingerprints entities by topological shape — how they connect, behave, and relate across every platform simultaneously.</a:t>
            </a:r>
            <a:endParaRPr lang="en-US" sz="2100" dirty="0"/>
          </a:p>
        </p:txBody>
      </p:sp>
      <p:sp>
        <p:nvSpPr>
          <p:cNvPr id="8" name="Shape 6"/>
          <p:cNvSpPr/>
          <p:nvPr/>
        </p:nvSpPr>
        <p:spPr>
          <a:xfrm>
            <a:off x="952500" y="5083969"/>
            <a:ext cx="10439480" cy="4656426"/>
          </a:xfrm>
          <a:prstGeom prst="roundRect">
            <a:avLst>
              <a:gd name="adj" fmla="val 2455"/>
            </a:avLst>
          </a:prstGeom>
          <a:solidFill>
            <a:srgbClr val="111118"/>
          </a:solidFill>
          <a:ln w="8659">
            <a:solidFill>
              <a:srgbClr val="FFFFFF">
                <a:alpha val="6000"/>
              </a:srgbClr>
            </a:solidFill>
            <a:prstDash val="solid"/>
          </a:ln>
        </p:spPr>
        <p:txBody>
          <a:bodyPr/>
          <a:lstStyle/>
          <a:p>
            <a:endParaRPr lang="en-US"/>
          </a:p>
        </p:txBody>
      </p:sp>
      <p:sp>
        <p:nvSpPr>
          <p:cNvPr id="9" name="Text 7"/>
          <p:cNvSpPr/>
          <p:nvPr/>
        </p:nvSpPr>
        <p:spPr>
          <a:xfrm>
            <a:off x="1342159" y="5435473"/>
            <a:ext cx="9949968"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TOPOLOGICAL FINGERPRINTING · 5 DIMENSIONS</a:t>
            </a:r>
            <a:endParaRPr lang="en-US" sz="1800" dirty="0"/>
          </a:p>
        </p:txBody>
      </p:sp>
      <p:sp>
        <p:nvSpPr>
          <p:cNvPr id="10" name="Shape 8"/>
          <p:cNvSpPr/>
          <p:nvPr/>
        </p:nvSpPr>
        <p:spPr>
          <a:xfrm>
            <a:off x="1342159" y="5890888"/>
            <a:ext cx="9660163" cy="3498002"/>
          </a:xfrm>
          <a:prstGeom prst="roundRect">
            <a:avLst>
              <a:gd name="adj" fmla="val 2178"/>
            </a:avLst>
          </a:prstGeom>
          <a:ln w="8659">
            <a:solidFill>
              <a:srgbClr val="FFFFFF">
                <a:alpha val="6000"/>
              </a:srgbClr>
            </a:solidFill>
            <a:prstDash val="solid"/>
          </a:ln>
        </p:spPr>
        <p:txBody>
          <a:bodyPr/>
          <a:lstStyle/>
          <a:p>
            <a:endParaRPr lang="en-US"/>
          </a:p>
        </p:txBody>
      </p:sp>
      <p:sp>
        <p:nvSpPr>
          <p:cNvPr id="11" name="Shape 9"/>
          <p:cNvSpPr/>
          <p:nvPr/>
        </p:nvSpPr>
        <p:spPr>
          <a:xfrm>
            <a:off x="1350818" y="6588756"/>
            <a:ext cx="9642845" cy="9525"/>
          </a:xfrm>
          <a:prstGeom prst="rect">
            <a:avLst/>
          </a:prstGeom>
          <a:solidFill>
            <a:srgbClr val="FFFFFF">
              <a:alpha val="6000"/>
            </a:srgbClr>
          </a:solidFill>
          <a:ln/>
        </p:spPr>
        <p:txBody>
          <a:bodyPr/>
          <a:lstStyle/>
          <a:p>
            <a:endParaRPr lang="en-US"/>
          </a:p>
        </p:txBody>
      </p:sp>
      <p:sp>
        <p:nvSpPr>
          <p:cNvPr id="12" name="Text 10"/>
          <p:cNvSpPr/>
          <p:nvPr/>
        </p:nvSpPr>
        <p:spPr>
          <a:xfrm>
            <a:off x="1579337" y="6101276"/>
            <a:ext cx="131445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Structural</a:t>
            </a:r>
            <a:endParaRPr lang="en-US" sz="1950" dirty="0"/>
          </a:p>
        </p:txBody>
      </p:sp>
      <p:sp>
        <p:nvSpPr>
          <p:cNvPr id="13" name="Shape 11"/>
          <p:cNvSpPr/>
          <p:nvPr/>
        </p:nvSpPr>
        <p:spPr>
          <a:xfrm>
            <a:off x="3008087" y="6215604"/>
            <a:ext cx="3190063" cy="57096"/>
          </a:xfrm>
          <a:prstGeom prst="roundRect">
            <a:avLst>
              <a:gd name="adj" fmla="val 50000"/>
            </a:avLst>
          </a:prstGeom>
          <a:solidFill>
            <a:srgbClr val="FFFFFF">
              <a:alpha val="6000"/>
            </a:srgbClr>
          </a:solidFill>
          <a:ln/>
        </p:spPr>
        <p:txBody>
          <a:bodyPr/>
          <a:lstStyle/>
          <a:p>
            <a:endParaRPr lang="en-US"/>
          </a:p>
        </p:txBody>
      </p:sp>
      <p:sp>
        <p:nvSpPr>
          <p:cNvPr id="14" name="Shape 12"/>
          <p:cNvSpPr/>
          <p:nvPr/>
        </p:nvSpPr>
        <p:spPr>
          <a:xfrm>
            <a:off x="3008087" y="6215604"/>
            <a:ext cx="1116481" cy="57096"/>
          </a:xfrm>
          <a:prstGeom prst="roundRect">
            <a:avLst>
              <a:gd name="adj" fmla="val 50000"/>
            </a:avLst>
          </a:prstGeom>
          <a:solidFill>
            <a:srgbClr val="5E6AD2"/>
          </a:solidFill>
          <a:ln/>
        </p:spPr>
        <p:txBody>
          <a:bodyPr/>
          <a:lstStyle/>
          <a:p>
            <a:endParaRPr lang="en-US"/>
          </a:p>
        </p:txBody>
      </p:sp>
      <p:sp>
        <p:nvSpPr>
          <p:cNvPr id="15" name="Text 13"/>
          <p:cNvSpPr/>
          <p:nvPr/>
        </p:nvSpPr>
        <p:spPr>
          <a:xfrm>
            <a:off x="6312450" y="6070970"/>
            <a:ext cx="761892" cy="384464"/>
          </a:xfrm>
          <a:prstGeom prst="rect">
            <a:avLst/>
          </a:prstGeom>
          <a:noFill/>
          <a:ln/>
        </p:spPr>
        <p:txBody>
          <a:bodyPr wrap="square" lIns="25400" tIns="25400" rIns="25400" bIns="25400" rtlCol="0" anchor="t">
            <a:normAutofit/>
          </a:bodyPr>
          <a:lstStyle/>
          <a:p>
            <a:pPr marL="0" indent="0" algn="r">
              <a:buNone/>
            </a:pPr>
            <a:r>
              <a:rPr lang="en-US" sz="2100" b="1" dirty="0">
                <a:solidFill>
                  <a:srgbClr val="5E6AD2"/>
                </a:solidFill>
                <a:latin typeface="Arial" pitchFamily="34" charset="0"/>
                <a:ea typeface="Arial" pitchFamily="34" charset="-122"/>
                <a:cs typeface="Arial" pitchFamily="34" charset="-120"/>
              </a:rPr>
              <a:t>35%</a:t>
            </a:r>
            <a:endParaRPr lang="en-US" sz="2100" dirty="0"/>
          </a:p>
        </p:txBody>
      </p:sp>
      <p:sp>
        <p:nvSpPr>
          <p:cNvPr id="16" name="Text 14"/>
          <p:cNvSpPr/>
          <p:nvPr/>
        </p:nvSpPr>
        <p:spPr>
          <a:xfrm>
            <a:off x="7264841" y="6096947"/>
            <a:ext cx="3605311" cy="332509"/>
          </a:xfrm>
          <a:prstGeom prst="rect">
            <a:avLst/>
          </a:prstGeom>
          <a:noFill/>
          <a:ln/>
        </p:spPr>
        <p:txBody>
          <a:bodyPr wrap="square" lIns="25400" tIns="25400" rIns="25400" bIns="25400" rtlCol="0" anchor="t">
            <a:normAutofit/>
          </a:bodyPr>
          <a:lstStyle/>
          <a:p>
            <a:pPr marL="0" indent="0" algn="l">
              <a:buNone/>
            </a:pPr>
            <a:r>
              <a:rPr lang="en-US" sz="1950" dirty="0">
                <a:solidFill>
                  <a:srgbClr val="42425A"/>
                </a:solidFill>
                <a:latin typeface="-apple-system" pitchFamily="34" charset="0"/>
                <a:ea typeface="-apple-system" pitchFamily="34" charset="-122"/>
                <a:cs typeface="-apple-system" pitchFamily="34" charset="-120"/>
              </a:rPr>
              <a:t>in/out degree, neighbor signature</a:t>
            </a:r>
            <a:endParaRPr lang="en-US" sz="1950" dirty="0"/>
          </a:p>
        </p:txBody>
      </p:sp>
      <p:sp>
        <p:nvSpPr>
          <p:cNvPr id="17" name="Shape 15"/>
          <p:cNvSpPr/>
          <p:nvPr/>
        </p:nvSpPr>
        <p:spPr>
          <a:xfrm>
            <a:off x="1350818" y="7286625"/>
            <a:ext cx="9642845" cy="9525"/>
          </a:xfrm>
          <a:prstGeom prst="rect">
            <a:avLst/>
          </a:prstGeom>
          <a:solidFill>
            <a:srgbClr val="FFFFFF">
              <a:alpha val="6000"/>
            </a:srgbClr>
          </a:solidFill>
          <a:ln/>
        </p:spPr>
        <p:txBody>
          <a:bodyPr/>
          <a:lstStyle/>
          <a:p>
            <a:endParaRPr lang="en-US"/>
          </a:p>
        </p:txBody>
      </p:sp>
      <p:sp>
        <p:nvSpPr>
          <p:cNvPr id="18" name="Text 16"/>
          <p:cNvSpPr/>
          <p:nvPr/>
        </p:nvSpPr>
        <p:spPr>
          <a:xfrm>
            <a:off x="1579337" y="6799145"/>
            <a:ext cx="131445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Resource</a:t>
            </a:r>
            <a:endParaRPr lang="en-US" sz="1950" dirty="0"/>
          </a:p>
        </p:txBody>
      </p:sp>
      <p:sp>
        <p:nvSpPr>
          <p:cNvPr id="19" name="Shape 17"/>
          <p:cNvSpPr/>
          <p:nvPr/>
        </p:nvSpPr>
        <p:spPr>
          <a:xfrm>
            <a:off x="3008087" y="6913472"/>
            <a:ext cx="3416146" cy="57096"/>
          </a:xfrm>
          <a:prstGeom prst="roundRect">
            <a:avLst>
              <a:gd name="adj" fmla="val 50000"/>
            </a:avLst>
          </a:prstGeom>
          <a:solidFill>
            <a:srgbClr val="FFFFFF">
              <a:alpha val="6000"/>
            </a:srgbClr>
          </a:solidFill>
          <a:ln/>
        </p:spPr>
        <p:txBody>
          <a:bodyPr/>
          <a:lstStyle/>
          <a:p>
            <a:endParaRPr lang="en-US"/>
          </a:p>
        </p:txBody>
      </p:sp>
      <p:sp>
        <p:nvSpPr>
          <p:cNvPr id="20" name="Shape 18"/>
          <p:cNvSpPr/>
          <p:nvPr/>
        </p:nvSpPr>
        <p:spPr>
          <a:xfrm>
            <a:off x="3008087" y="6913472"/>
            <a:ext cx="854003" cy="57096"/>
          </a:xfrm>
          <a:prstGeom prst="roundRect">
            <a:avLst>
              <a:gd name="adj" fmla="val 50000"/>
            </a:avLst>
          </a:prstGeom>
          <a:solidFill>
            <a:srgbClr val="5E6AD2">
              <a:alpha val="85000"/>
            </a:srgbClr>
          </a:solidFill>
          <a:ln/>
        </p:spPr>
        <p:txBody>
          <a:bodyPr/>
          <a:lstStyle/>
          <a:p>
            <a:endParaRPr lang="en-US"/>
          </a:p>
        </p:txBody>
      </p:sp>
      <p:sp>
        <p:nvSpPr>
          <p:cNvPr id="21" name="Text 19"/>
          <p:cNvSpPr/>
          <p:nvPr/>
        </p:nvSpPr>
        <p:spPr>
          <a:xfrm>
            <a:off x="6538533" y="6768838"/>
            <a:ext cx="761892" cy="384464"/>
          </a:xfrm>
          <a:prstGeom prst="rect">
            <a:avLst/>
          </a:prstGeom>
          <a:noFill/>
          <a:ln/>
        </p:spPr>
        <p:txBody>
          <a:bodyPr wrap="square" lIns="25400" tIns="25400" rIns="25400" bIns="25400" rtlCol="0" anchor="t">
            <a:normAutofit/>
          </a:bodyPr>
          <a:lstStyle/>
          <a:p>
            <a:pPr marL="0" indent="0" algn="r">
              <a:buNone/>
            </a:pPr>
            <a:r>
              <a:rPr lang="en-US" sz="2100" b="1" dirty="0">
                <a:solidFill>
                  <a:srgbClr val="7170FF"/>
                </a:solidFill>
                <a:latin typeface="Arial" pitchFamily="34" charset="0"/>
                <a:ea typeface="Arial" pitchFamily="34" charset="-122"/>
                <a:cs typeface="Arial" pitchFamily="34" charset="-120"/>
              </a:rPr>
              <a:t>25%</a:t>
            </a:r>
            <a:endParaRPr lang="en-US" sz="2100" dirty="0"/>
          </a:p>
        </p:txBody>
      </p:sp>
      <p:sp>
        <p:nvSpPr>
          <p:cNvPr id="22" name="Text 20"/>
          <p:cNvSpPr/>
          <p:nvPr/>
        </p:nvSpPr>
        <p:spPr>
          <a:xfrm>
            <a:off x="7490925" y="6794815"/>
            <a:ext cx="3372445" cy="332509"/>
          </a:xfrm>
          <a:prstGeom prst="rect">
            <a:avLst/>
          </a:prstGeom>
          <a:noFill/>
          <a:ln/>
        </p:spPr>
        <p:txBody>
          <a:bodyPr wrap="square" lIns="25400" tIns="25400" rIns="25400" bIns="25400" rtlCol="0" anchor="t">
            <a:normAutofit/>
          </a:bodyPr>
          <a:lstStyle/>
          <a:p>
            <a:pPr marL="0" indent="0" algn="l">
              <a:buNone/>
            </a:pPr>
            <a:r>
              <a:rPr lang="en-US" sz="1950" dirty="0">
                <a:solidFill>
                  <a:srgbClr val="42425A"/>
                </a:solidFill>
                <a:latin typeface="-apple-system" pitchFamily="34" charset="0"/>
                <a:ea typeface="-apple-system" pitchFamily="34" charset="-122"/>
                <a:cs typeface="-apple-system" pitchFamily="34" charset="-120"/>
              </a:rPr>
              <a:t>ports, protocols, resource class</a:t>
            </a:r>
            <a:endParaRPr lang="en-US" sz="1950" dirty="0"/>
          </a:p>
        </p:txBody>
      </p:sp>
      <p:sp>
        <p:nvSpPr>
          <p:cNvPr id="23" name="Shape 21"/>
          <p:cNvSpPr/>
          <p:nvPr/>
        </p:nvSpPr>
        <p:spPr>
          <a:xfrm>
            <a:off x="1350818" y="7984493"/>
            <a:ext cx="9642845" cy="9525"/>
          </a:xfrm>
          <a:prstGeom prst="rect">
            <a:avLst/>
          </a:prstGeom>
          <a:solidFill>
            <a:srgbClr val="FFFFFF">
              <a:alpha val="6000"/>
            </a:srgbClr>
          </a:solidFill>
          <a:ln/>
        </p:spPr>
        <p:txBody>
          <a:bodyPr/>
          <a:lstStyle/>
          <a:p>
            <a:endParaRPr lang="en-US"/>
          </a:p>
        </p:txBody>
      </p:sp>
      <p:sp>
        <p:nvSpPr>
          <p:cNvPr id="24" name="Text 22"/>
          <p:cNvSpPr/>
          <p:nvPr/>
        </p:nvSpPr>
        <p:spPr>
          <a:xfrm>
            <a:off x="1579337" y="7497013"/>
            <a:ext cx="131445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Semantic</a:t>
            </a:r>
            <a:endParaRPr lang="en-US" sz="1950" dirty="0"/>
          </a:p>
        </p:txBody>
      </p:sp>
      <p:sp>
        <p:nvSpPr>
          <p:cNvPr id="25" name="Shape 23"/>
          <p:cNvSpPr/>
          <p:nvPr/>
        </p:nvSpPr>
        <p:spPr>
          <a:xfrm>
            <a:off x="3008087" y="7611341"/>
            <a:ext cx="2955591" cy="57096"/>
          </a:xfrm>
          <a:prstGeom prst="roundRect">
            <a:avLst>
              <a:gd name="adj" fmla="val 50000"/>
            </a:avLst>
          </a:prstGeom>
          <a:solidFill>
            <a:srgbClr val="FFFFFF">
              <a:alpha val="6000"/>
            </a:srgbClr>
          </a:solidFill>
          <a:ln/>
        </p:spPr>
        <p:txBody>
          <a:bodyPr/>
          <a:lstStyle/>
          <a:p>
            <a:endParaRPr lang="en-US"/>
          </a:p>
        </p:txBody>
      </p:sp>
      <p:sp>
        <p:nvSpPr>
          <p:cNvPr id="26" name="Shape 24"/>
          <p:cNvSpPr/>
          <p:nvPr/>
        </p:nvSpPr>
        <p:spPr>
          <a:xfrm>
            <a:off x="3008087" y="7611341"/>
            <a:ext cx="591118" cy="57096"/>
          </a:xfrm>
          <a:prstGeom prst="roundRect">
            <a:avLst>
              <a:gd name="adj" fmla="val 50000"/>
            </a:avLst>
          </a:prstGeom>
          <a:solidFill>
            <a:srgbClr val="5E6AD2">
              <a:alpha val="75000"/>
            </a:srgbClr>
          </a:solidFill>
          <a:ln/>
        </p:spPr>
        <p:txBody>
          <a:bodyPr/>
          <a:lstStyle/>
          <a:p>
            <a:endParaRPr lang="en-US"/>
          </a:p>
        </p:txBody>
      </p:sp>
      <p:sp>
        <p:nvSpPr>
          <p:cNvPr id="27" name="Text 25"/>
          <p:cNvSpPr/>
          <p:nvPr/>
        </p:nvSpPr>
        <p:spPr>
          <a:xfrm>
            <a:off x="6077978" y="7466707"/>
            <a:ext cx="761892" cy="384464"/>
          </a:xfrm>
          <a:prstGeom prst="rect">
            <a:avLst/>
          </a:prstGeom>
          <a:noFill/>
          <a:ln/>
        </p:spPr>
        <p:txBody>
          <a:bodyPr wrap="square" lIns="25400" tIns="25400" rIns="25400" bIns="25400" rtlCol="0" anchor="t">
            <a:normAutofit/>
          </a:bodyPr>
          <a:lstStyle/>
          <a:p>
            <a:pPr marL="0" indent="0" algn="r">
              <a:buNone/>
            </a:pPr>
            <a:r>
              <a:rPr lang="en-US" sz="2100" b="1" dirty="0">
                <a:solidFill>
                  <a:srgbClr val="22D3EE"/>
                </a:solidFill>
                <a:latin typeface="Arial" pitchFamily="34" charset="0"/>
                <a:ea typeface="Arial" pitchFamily="34" charset="-122"/>
                <a:cs typeface="Arial" pitchFamily="34" charset="-120"/>
              </a:rPr>
              <a:t>20%</a:t>
            </a:r>
            <a:endParaRPr lang="en-US" sz="2100" dirty="0"/>
          </a:p>
        </p:txBody>
      </p:sp>
      <p:sp>
        <p:nvSpPr>
          <p:cNvPr id="28" name="Text 26"/>
          <p:cNvSpPr/>
          <p:nvPr/>
        </p:nvSpPr>
        <p:spPr>
          <a:xfrm>
            <a:off x="7030370" y="7492684"/>
            <a:ext cx="3846817" cy="332509"/>
          </a:xfrm>
          <a:prstGeom prst="rect">
            <a:avLst/>
          </a:prstGeom>
          <a:noFill/>
          <a:ln/>
        </p:spPr>
        <p:txBody>
          <a:bodyPr wrap="square" lIns="25400" tIns="25400" rIns="25400" bIns="25400" rtlCol="0" anchor="t">
            <a:normAutofit/>
          </a:bodyPr>
          <a:lstStyle/>
          <a:p>
            <a:pPr marL="0" indent="0" algn="l">
              <a:buNone/>
            </a:pPr>
            <a:r>
              <a:rPr lang="en-US" sz="1950" dirty="0">
                <a:solidFill>
                  <a:srgbClr val="42425A"/>
                </a:solidFill>
                <a:latin typeface="-apple-system" pitchFamily="34" charset="0"/>
                <a:ea typeface="-apple-system" pitchFamily="34" charset="-122"/>
                <a:cs typeface="-apple-system" pitchFamily="34" charset="-120"/>
              </a:rPr>
              <a:t>vector embedding, not exact match</a:t>
            </a:r>
            <a:endParaRPr lang="en-US" sz="1950" dirty="0"/>
          </a:p>
        </p:txBody>
      </p:sp>
      <p:sp>
        <p:nvSpPr>
          <p:cNvPr id="29" name="Shape 27"/>
          <p:cNvSpPr/>
          <p:nvPr/>
        </p:nvSpPr>
        <p:spPr>
          <a:xfrm>
            <a:off x="1350818" y="8682362"/>
            <a:ext cx="9642845" cy="9525"/>
          </a:xfrm>
          <a:prstGeom prst="rect">
            <a:avLst/>
          </a:prstGeom>
          <a:solidFill>
            <a:srgbClr val="FFFFFF">
              <a:alpha val="6000"/>
            </a:srgbClr>
          </a:solidFill>
          <a:ln/>
        </p:spPr>
        <p:txBody>
          <a:bodyPr/>
          <a:lstStyle/>
          <a:p>
            <a:endParaRPr lang="en-US"/>
          </a:p>
        </p:txBody>
      </p:sp>
      <p:sp>
        <p:nvSpPr>
          <p:cNvPr id="30" name="Text 28"/>
          <p:cNvSpPr/>
          <p:nvPr/>
        </p:nvSpPr>
        <p:spPr>
          <a:xfrm>
            <a:off x="1579337" y="8194882"/>
            <a:ext cx="131445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Behavioral</a:t>
            </a:r>
            <a:endParaRPr lang="en-US" sz="1950" dirty="0"/>
          </a:p>
        </p:txBody>
      </p:sp>
      <p:sp>
        <p:nvSpPr>
          <p:cNvPr id="31" name="Shape 29"/>
          <p:cNvSpPr/>
          <p:nvPr/>
        </p:nvSpPr>
        <p:spPr>
          <a:xfrm>
            <a:off x="3008087" y="8309209"/>
            <a:ext cx="3060988" cy="57096"/>
          </a:xfrm>
          <a:prstGeom prst="roundRect">
            <a:avLst>
              <a:gd name="adj" fmla="val 50000"/>
            </a:avLst>
          </a:prstGeom>
          <a:solidFill>
            <a:srgbClr val="FFFFFF">
              <a:alpha val="6000"/>
            </a:srgbClr>
          </a:solidFill>
          <a:ln/>
        </p:spPr>
        <p:txBody>
          <a:bodyPr/>
          <a:lstStyle/>
          <a:p>
            <a:endParaRPr lang="en-US"/>
          </a:p>
        </p:txBody>
      </p:sp>
      <p:sp>
        <p:nvSpPr>
          <p:cNvPr id="32" name="Shape 30"/>
          <p:cNvSpPr/>
          <p:nvPr/>
        </p:nvSpPr>
        <p:spPr>
          <a:xfrm>
            <a:off x="3008087" y="8309209"/>
            <a:ext cx="306045" cy="57096"/>
          </a:xfrm>
          <a:prstGeom prst="roundRect">
            <a:avLst>
              <a:gd name="adj" fmla="val 50000"/>
            </a:avLst>
          </a:prstGeom>
          <a:solidFill>
            <a:srgbClr val="34D399">
              <a:alpha val="65000"/>
            </a:srgbClr>
          </a:solidFill>
          <a:ln/>
        </p:spPr>
        <p:txBody>
          <a:bodyPr/>
          <a:lstStyle/>
          <a:p>
            <a:endParaRPr lang="en-US"/>
          </a:p>
        </p:txBody>
      </p:sp>
      <p:sp>
        <p:nvSpPr>
          <p:cNvPr id="33" name="Text 31"/>
          <p:cNvSpPr/>
          <p:nvPr/>
        </p:nvSpPr>
        <p:spPr>
          <a:xfrm>
            <a:off x="6183375" y="8164575"/>
            <a:ext cx="761892" cy="384464"/>
          </a:xfrm>
          <a:prstGeom prst="rect">
            <a:avLst/>
          </a:prstGeom>
          <a:noFill/>
          <a:ln/>
        </p:spPr>
        <p:txBody>
          <a:bodyPr wrap="square" lIns="25400" tIns="25400" rIns="25400" bIns="25400" rtlCol="0" anchor="t">
            <a:normAutofit/>
          </a:bodyPr>
          <a:lstStyle/>
          <a:p>
            <a:pPr marL="0" indent="0" algn="r">
              <a:buNone/>
            </a:pPr>
            <a:r>
              <a:rPr lang="en-US" sz="2100" b="1" dirty="0">
                <a:solidFill>
                  <a:srgbClr val="34D399"/>
                </a:solidFill>
                <a:latin typeface="Arial" pitchFamily="34" charset="0"/>
                <a:ea typeface="Arial" pitchFamily="34" charset="-122"/>
                <a:cs typeface="Arial" pitchFamily="34" charset="-120"/>
              </a:rPr>
              <a:t>10%</a:t>
            </a:r>
            <a:endParaRPr lang="en-US" sz="2100" dirty="0"/>
          </a:p>
        </p:txBody>
      </p:sp>
      <p:sp>
        <p:nvSpPr>
          <p:cNvPr id="34" name="Text 32"/>
          <p:cNvSpPr/>
          <p:nvPr/>
        </p:nvSpPr>
        <p:spPr>
          <a:xfrm>
            <a:off x="7135767" y="8190552"/>
            <a:ext cx="3738258" cy="332509"/>
          </a:xfrm>
          <a:prstGeom prst="rect">
            <a:avLst/>
          </a:prstGeom>
          <a:noFill/>
          <a:ln/>
        </p:spPr>
        <p:txBody>
          <a:bodyPr wrap="square" lIns="25400" tIns="25400" rIns="25400" bIns="25400" rtlCol="0" anchor="t">
            <a:normAutofit/>
          </a:bodyPr>
          <a:lstStyle/>
          <a:p>
            <a:pPr marL="0" indent="0" algn="l">
              <a:buNone/>
            </a:pPr>
            <a:r>
              <a:rPr lang="en-US" sz="1950" dirty="0">
                <a:solidFill>
                  <a:srgbClr val="42425A"/>
                </a:solidFill>
                <a:latin typeface="-apple-system" pitchFamily="34" charset="0"/>
                <a:ea typeface="-apple-system" pitchFamily="34" charset="-122"/>
                <a:cs typeface="-apple-system" pitchFamily="34" charset="-120"/>
              </a:rPr>
              <a:t>request rate, error rate, deploy freq</a:t>
            </a:r>
            <a:endParaRPr lang="en-US" sz="1950" dirty="0"/>
          </a:p>
        </p:txBody>
      </p:sp>
      <p:sp>
        <p:nvSpPr>
          <p:cNvPr id="35" name="Text 33"/>
          <p:cNvSpPr/>
          <p:nvPr/>
        </p:nvSpPr>
        <p:spPr>
          <a:xfrm>
            <a:off x="1579337" y="8892751"/>
            <a:ext cx="131445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Temporal</a:t>
            </a:r>
            <a:endParaRPr lang="en-US" sz="1950" dirty="0"/>
          </a:p>
        </p:txBody>
      </p:sp>
      <p:sp>
        <p:nvSpPr>
          <p:cNvPr id="36" name="Shape 34"/>
          <p:cNvSpPr/>
          <p:nvPr/>
        </p:nvSpPr>
        <p:spPr>
          <a:xfrm>
            <a:off x="3008087" y="9007078"/>
            <a:ext cx="3870072" cy="57096"/>
          </a:xfrm>
          <a:prstGeom prst="roundRect">
            <a:avLst>
              <a:gd name="adj" fmla="val 50000"/>
            </a:avLst>
          </a:prstGeom>
          <a:solidFill>
            <a:srgbClr val="FFFFFF">
              <a:alpha val="6000"/>
            </a:srgbClr>
          </a:solidFill>
          <a:ln/>
        </p:spPr>
        <p:txBody>
          <a:bodyPr/>
          <a:lstStyle/>
          <a:p>
            <a:endParaRPr lang="en-US"/>
          </a:p>
        </p:txBody>
      </p:sp>
      <p:sp>
        <p:nvSpPr>
          <p:cNvPr id="37" name="Shape 35"/>
          <p:cNvSpPr/>
          <p:nvPr/>
        </p:nvSpPr>
        <p:spPr>
          <a:xfrm>
            <a:off x="3008087" y="9007078"/>
            <a:ext cx="386953" cy="57096"/>
          </a:xfrm>
          <a:prstGeom prst="roundRect">
            <a:avLst>
              <a:gd name="adj" fmla="val 50000"/>
            </a:avLst>
          </a:prstGeom>
          <a:solidFill>
            <a:srgbClr val="FBBF24">
              <a:alpha val="65000"/>
            </a:srgbClr>
          </a:solidFill>
          <a:ln/>
        </p:spPr>
        <p:txBody>
          <a:bodyPr/>
          <a:lstStyle/>
          <a:p>
            <a:endParaRPr lang="en-US"/>
          </a:p>
        </p:txBody>
      </p:sp>
      <p:sp>
        <p:nvSpPr>
          <p:cNvPr id="38" name="Text 36"/>
          <p:cNvSpPr/>
          <p:nvPr/>
        </p:nvSpPr>
        <p:spPr>
          <a:xfrm>
            <a:off x="6992459" y="8862444"/>
            <a:ext cx="761892" cy="384464"/>
          </a:xfrm>
          <a:prstGeom prst="rect">
            <a:avLst/>
          </a:prstGeom>
          <a:noFill/>
          <a:ln/>
        </p:spPr>
        <p:txBody>
          <a:bodyPr wrap="square" lIns="25400" tIns="25400" rIns="25400" bIns="25400" rtlCol="0" anchor="t">
            <a:normAutofit/>
          </a:bodyPr>
          <a:lstStyle/>
          <a:p>
            <a:pPr marL="0" indent="0" algn="r">
              <a:buNone/>
            </a:pPr>
            <a:r>
              <a:rPr lang="en-US" sz="2100" b="1" dirty="0">
                <a:solidFill>
                  <a:srgbClr val="FBBF24"/>
                </a:solidFill>
                <a:latin typeface="Arial" pitchFamily="34" charset="0"/>
                <a:ea typeface="Arial" pitchFamily="34" charset="-122"/>
                <a:cs typeface="Arial" pitchFamily="34" charset="-120"/>
              </a:rPr>
              <a:t>10%</a:t>
            </a:r>
            <a:endParaRPr lang="en-US" sz="2100" dirty="0"/>
          </a:p>
        </p:txBody>
      </p:sp>
      <p:sp>
        <p:nvSpPr>
          <p:cNvPr id="39" name="Text 37"/>
          <p:cNvSpPr/>
          <p:nvPr/>
        </p:nvSpPr>
        <p:spPr>
          <a:xfrm>
            <a:off x="7944851" y="8888421"/>
            <a:ext cx="2904902" cy="332509"/>
          </a:xfrm>
          <a:prstGeom prst="rect">
            <a:avLst/>
          </a:prstGeom>
          <a:noFill/>
          <a:ln/>
        </p:spPr>
        <p:txBody>
          <a:bodyPr wrap="square" lIns="25400" tIns="25400" rIns="25400" bIns="25400" rtlCol="0" anchor="t">
            <a:normAutofit/>
          </a:bodyPr>
          <a:lstStyle/>
          <a:p>
            <a:pPr marL="0" indent="0" algn="l">
              <a:buNone/>
            </a:pPr>
            <a:r>
              <a:rPr lang="en-US" sz="1950" dirty="0">
                <a:solidFill>
                  <a:srgbClr val="42425A"/>
                </a:solidFill>
                <a:latin typeface="-apple-system" pitchFamily="34" charset="0"/>
                <a:ea typeface="-apple-system" pitchFamily="34" charset="-122"/>
                <a:cs typeface="-apple-system" pitchFamily="34" charset="-120"/>
              </a:rPr>
              <a:t>entity age, change velocity</a:t>
            </a:r>
            <a:endParaRPr lang="en-US" sz="1950" dirty="0"/>
          </a:p>
        </p:txBody>
      </p:sp>
      <p:sp>
        <p:nvSpPr>
          <p:cNvPr id="40" name="Text 38"/>
          <p:cNvSpPr/>
          <p:nvPr/>
        </p:nvSpPr>
        <p:spPr>
          <a:xfrm>
            <a:off x="11921490" y="-221619"/>
            <a:ext cx="5494020" cy="644236"/>
          </a:xfrm>
          <a:prstGeom prst="rect">
            <a:avLst/>
          </a:prstGeom>
          <a:noFill/>
          <a:ln/>
        </p:spPr>
        <p:txBody>
          <a:bodyPr wrap="square" lIns="25400" tIns="25400" rIns="25400" bIns="25400" rtlCol="0" anchor="t">
            <a:normAutofit/>
          </a:bodyPr>
          <a:lstStyle/>
          <a:p>
            <a:pPr marL="0" indent="0" algn="ctr">
              <a:buNone/>
            </a:pPr>
            <a:r>
              <a:rPr lang="en-US" sz="1800" kern="0" spc="216" dirty="0">
                <a:solidFill>
                  <a:srgbClr val="42425A"/>
                </a:solidFill>
                <a:latin typeface="Arial" pitchFamily="34" charset="0"/>
                <a:ea typeface="Arial" pitchFamily="34" charset="-122"/>
                <a:cs typeface="Arial" pitchFamily="34" charset="-120"/>
              </a:rPr>
              <a:t>DUAL-CHANNEL · FIVE PROCESSING LAYERS</a:t>
            </a:r>
            <a:endParaRPr lang="en-US" sz="1800" dirty="0"/>
          </a:p>
        </p:txBody>
      </p:sp>
      <p:sp>
        <p:nvSpPr>
          <p:cNvPr id="41" name="Shape 39"/>
          <p:cNvSpPr/>
          <p:nvPr/>
        </p:nvSpPr>
        <p:spPr>
          <a:xfrm>
            <a:off x="12001500" y="574882"/>
            <a:ext cx="2609904" cy="1534147"/>
          </a:xfrm>
          <a:prstGeom prst="roundRect">
            <a:avLst>
              <a:gd name="adj" fmla="val 4967"/>
            </a:avLst>
          </a:prstGeom>
          <a:solidFill>
            <a:srgbClr val="5E6AD2">
              <a:alpha val="10000"/>
            </a:srgbClr>
          </a:solidFill>
          <a:ln w="8659">
            <a:solidFill>
              <a:srgbClr val="5E6AD2">
                <a:alpha val="30000"/>
              </a:srgbClr>
            </a:solidFill>
            <a:prstDash val="solid"/>
          </a:ln>
        </p:spPr>
        <p:txBody>
          <a:bodyPr/>
          <a:lstStyle/>
          <a:p>
            <a:endParaRPr lang="en-US"/>
          </a:p>
        </p:txBody>
      </p:sp>
      <p:sp>
        <p:nvSpPr>
          <p:cNvPr id="42" name="Text 40"/>
          <p:cNvSpPr/>
          <p:nvPr/>
        </p:nvSpPr>
        <p:spPr>
          <a:xfrm>
            <a:off x="12124404" y="735887"/>
            <a:ext cx="2364094" cy="306532"/>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5E6AD2"/>
                </a:solidFill>
                <a:latin typeface="Arial" pitchFamily="34" charset="0"/>
                <a:ea typeface="Arial" pitchFamily="34" charset="-122"/>
                <a:cs typeface="Arial" pitchFamily="34" charset="-120"/>
              </a:rPr>
              <a:t>CHANNEL 1</a:t>
            </a:r>
            <a:endParaRPr lang="en-US" sz="1800" dirty="0"/>
          </a:p>
        </p:txBody>
      </p:sp>
      <p:sp>
        <p:nvSpPr>
          <p:cNvPr id="43" name="Text 41"/>
          <p:cNvSpPr/>
          <p:nvPr/>
        </p:nvSpPr>
        <p:spPr>
          <a:xfrm>
            <a:off x="12124404" y="1061415"/>
            <a:ext cx="2364094" cy="332509"/>
          </a:xfrm>
          <a:prstGeom prst="rect">
            <a:avLst/>
          </a:prstGeom>
          <a:noFill/>
          <a:ln/>
        </p:spPr>
        <p:txBody>
          <a:bodyPr wrap="square" lIns="25400" tIns="25400" rIns="25400" bIns="25400" rtlCol="0" anchor="t">
            <a:normAutofit/>
          </a:bodyPr>
          <a:lstStyle/>
          <a:p>
            <a:pPr marL="0" indent="0" algn="ctr">
              <a:buNone/>
            </a:pPr>
            <a:r>
              <a:rPr lang="en-US" sz="1950" b="1" dirty="0">
                <a:solidFill>
                  <a:srgbClr val="EDEDF8"/>
                </a:solidFill>
                <a:latin typeface="-apple-system" pitchFamily="34" charset="0"/>
                <a:ea typeface="-apple-system" pitchFamily="34" charset="-122"/>
                <a:cs typeface="-apple-system" pitchFamily="34" charset="-120"/>
              </a:rPr>
              <a:t>Platform APIs</a:t>
            </a:r>
            <a:endParaRPr lang="en-US" sz="1950" dirty="0"/>
          </a:p>
        </p:txBody>
      </p:sp>
      <p:sp>
        <p:nvSpPr>
          <p:cNvPr id="44" name="Text 42"/>
          <p:cNvSpPr/>
          <p:nvPr/>
        </p:nvSpPr>
        <p:spPr>
          <a:xfrm>
            <a:off x="12124404" y="1393843"/>
            <a:ext cx="2364094" cy="592282"/>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pple-system" pitchFamily="34" charset="0"/>
                <a:ea typeface="-apple-system" pitchFamily="34" charset="-122"/>
                <a:cs typeface="-apple-system" pitchFamily="34" charset="-120"/>
              </a:rPr>
              <a:t>K8s · GitHub · Datadog · Kafka · 9 more</a:t>
            </a:r>
            <a:endParaRPr lang="en-US" sz="1800" dirty="0"/>
          </a:p>
        </p:txBody>
      </p:sp>
      <p:sp>
        <p:nvSpPr>
          <p:cNvPr id="45" name="Shape 43"/>
          <p:cNvSpPr/>
          <p:nvPr/>
        </p:nvSpPr>
        <p:spPr>
          <a:xfrm>
            <a:off x="14725595" y="574882"/>
            <a:ext cx="2609904" cy="1534147"/>
          </a:xfrm>
          <a:prstGeom prst="roundRect">
            <a:avLst>
              <a:gd name="adj" fmla="val 4967"/>
            </a:avLst>
          </a:prstGeom>
          <a:solidFill>
            <a:srgbClr val="22D3EE">
              <a:alpha val="7000"/>
            </a:srgbClr>
          </a:solidFill>
          <a:ln w="8659">
            <a:solidFill>
              <a:srgbClr val="22D3EE">
                <a:alpha val="25000"/>
              </a:srgbClr>
            </a:solidFill>
            <a:prstDash val="solid"/>
          </a:ln>
        </p:spPr>
        <p:txBody>
          <a:bodyPr/>
          <a:lstStyle/>
          <a:p>
            <a:endParaRPr lang="en-US"/>
          </a:p>
        </p:txBody>
      </p:sp>
      <p:sp>
        <p:nvSpPr>
          <p:cNvPr id="46" name="Text 44"/>
          <p:cNvSpPr/>
          <p:nvPr/>
        </p:nvSpPr>
        <p:spPr>
          <a:xfrm>
            <a:off x="14848501" y="735887"/>
            <a:ext cx="2364094" cy="306532"/>
          </a:xfrm>
          <a:prstGeom prst="rect">
            <a:avLst/>
          </a:prstGeom>
          <a:noFill/>
          <a:ln/>
        </p:spPr>
        <p:txBody>
          <a:bodyPr wrap="square" lIns="25400" tIns="25400" rIns="25400" bIns="25400" rtlCol="0" anchor="t">
            <a:normAutofit/>
          </a:bodyPr>
          <a:lstStyle/>
          <a:p>
            <a:pPr marL="0" indent="0" algn="ctr">
              <a:buNone/>
            </a:pPr>
            <a:r>
              <a:rPr lang="en-US" sz="1800" kern="0" spc="90" dirty="0">
                <a:solidFill>
                  <a:srgbClr val="22D3EE"/>
                </a:solidFill>
                <a:latin typeface="Arial" pitchFamily="34" charset="0"/>
                <a:ea typeface="Arial" pitchFamily="34" charset="-122"/>
                <a:cs typeface="Arial" pitchFamily="34" charset="-120"/>
              </a:rPr>
              <a:t>CHANNEL 2</a:t>
            </a:r>
            <a:endParaRPr lang="en-US" sz="1800" dirty="0"/>
          </a:p>
        </p:txBody>
      </p:sp>
      <p:sp>
        <p:nvSpPr>
          <p:cNvPr id="47" name="Text 45"/>
          <p:cNvSpPr/>
          <p:nvPr/>
        </p:nvSpPr>
        <p:spPr>
          <a:xfrm>
            <a:off x="14848501" y="1061415"/>
            <a:ext cx="2364094" cy="332509"/>
          </a:xfrm>
          <a:prstGeom prst="rect">
            <a:avLst/>
          </a:prstGeom>
          <a:noFill/>
          <a:ln/>
        </p:spPr>
        <p:txBody>
          <a:bodyPr wrap="square" lIns="25400" tIns="25400" rIns="25400" bIns="25400" rtlCol="0" anchor="t">
            <a:normAutofit/>
          </a:bodyPr>
          <a:lstStyle/>
          <a:p>
            <a:pPr marL="0" indent="0" algn="ctr">
              <a:buNone/>
            </a:pPr>
            <a:r>
              <a:rPr lang="en-US" sz="1950" b="1" dirty="0">
                <a:solidFill>
                  <a:srgbClr val="EDEDF8"/>
                </a:solidFill>
                <a:latin typeface="-apple-system" pitchFamily="34" charset="0"/>
                <a:ea typeface="-apple-system" pitchFamily="34" charset="-122"/>
                <a:cs typeface="-apple-system" pitchFamily="34" charset="-120"/>
              </a:rPr>
              <a:t>Documents</a:t>
            </a:r>
            <a:endParaRPr lang="en-US" sz="1950" dirty="0"/>
          </a:p>
        </p:txBody>
      </p:sp>
      <p:sp>
        <p:nvSpPr>
          <p:cNvPr id="48" name="Text 46"/>
          <p:cNvSpPr/>
          <p:nvPr/>
        </p:nvSpPr>
        <p:spPr>
          <a:xfrm>
            <a:off x="14848501" y="1393843"/>
            <a:ext cx="2364094" cy="592282"/>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pple-system" pitchFamily="34" charset="0"/>
                <a:ea typeface="-apple-system" pitchFamily="34" charset="-122"/>
                <a:cs typeface="-apple-system" pitchFamily="34" charset="-120"/>
              </a:rPr>
              <a:t>.docx · .xlsx · Swagger · Confluence</a:t>
            </a:r>
            <a:endParaRPr lang="en-US" sz="1800" dirty="0"/>
          </a:p>
        </p:txBody>
      </p:sp>
      <p:sp>
        <p:nvSpPr>
          <p:cNvPr id="49" name="Text 47"/>
          <p:cNvSpPr/>
          <p:nvPr/>
        </p:nvSpPr>
        <p:spPr>
          <a:xfrm>
            <a:off x="11921490" y="2223222"/>
            <a:ext cx="5494020"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50000"/>
                  </a:srgbClr>
                </a:solidFill>
                <a:latin typeface="Arial" pitchFamily="34" charset="0"/>
                <a:ea typeface="Arial" pitchFamily="34" charset="-122"/>
                <a:cs typeface="Arial" pitchFamily="34" charset="-120"/>
              </a:rPr>
              <a:t>▼</a:t>
            </a:r>
            <a:endParaRPr lang="en-US" sz="1800" dirty="0"/>
          </a:p>
        </p:txBody>
      </p:sp>
      <p:sp>
        <p:nvSpPr>
          <p:cNvPr id="50" name="Shape 48"/>
          <p:cNvSpPr/>
          <p:nvPr/>
        </p:nvSpPr>
        <p:spPr>
          <a:xfrm>
            <a:off x="12001500" y="2528049"/>
            <a:ext cx="5334000" cy="1045720"/>
          </a:xfrm>
          <a:prstGeom prst="roundRect">
            <a:avLst>
              <a:gd name="adj" fmla="val 9109"/>
            </a:avLst>
          </a:prstGeom>
          <a:solidFill>
            <a:srgbClr val="111118"/>
          </a:solidFill>
          <a:ln w="8659">
            <a:solidFill>
              <a:srgbClr val="FFFFFF">
                <a:alpha val="6000"/>
              </a:srgbClr>
            </a:solidFill>
            <a:prstDash val="solid"/>
          </a:ln>
        </p:spPr>
        <p:txBody>
          <a:bodyPr/>
          <a:lstStyle/>
          <a:p>
            <a:endParaRPr lang="en-US"/>
          </a:p>
        </p:txBody>
      </p:sp>
      <p:sp>
        <p:nvSpPr>
          <p:cNvPr id="51" name="Text 49"/>
          <p:cNvSpPr/>
          <p:nvPr/>
        </p:nvSpPr>
        <p:spPr>
          <a:xfrm>
            <a:off x="12276832" y="2912296"/>
            <a:ext cx="380892" cy="315191"/>
          </a:xfrm>
          <a:prstGeom prst="rect">
            <a:avLst/>
          </a:prstGeom>
          <a:noFill/>
          <a:ln/>
        </p:spPr>
        <p:txBody>
          <a:bodyPr wrap="square" lIns="25400" tIns="25400" rIns="25400" bIns="25400" rtlCol="0" anchor="t">
            <a:normAutofit/>
          </a:bodyPr>
          <a:lstStyle/>
          <a:p>
            <a:pPr marL="0" indent="0" algn="l">
              <a:buNone/>
            </a:pPr>
            <a:r>
              <a:rPr lang="en-US" sz="1650" b="1" dirty="0">
                <a:solidFill>
                  <a:srgbClr val="5E6AD2"/>
                </a:solidFill>
                <a:latin typeface="Arial" pitchFamily="34" charset="0"/>
                <a:ea typeface="Arial" pitchFamily="34" charset="-122"/>
                <a:cs typeface="Arial" pitchFamily="34" charset="-120"/>
              </a:rPr>
              <a:t>L2</a:t>
            </a:r>
            <a:endParaRPr lang="en-US" sz="1650" dirty="0"/>
          </a:p>
        </p:txBody>
      </p:sp>
      <p:sp>
        <p:nvSpPr>
          <p:cNvPr id="52" name="Text 50"/>
          <p:cNvSpPr/>
          <p:nvPr/>
        </p:nvSpPr>
        <p:spPr>
          <a:xfrm>
            <a:off x="12772024" y="2746150"/>
            <a:ext cx="3421499" cy="36714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rial" pitchFamily="34" charset="0"/>
                <a:ea typeface="Arial" pitchFamily="34" charset="-122"/>
                <a:cs typeface="Arial" pitchFamily="34" charset="-120"/>
              </a:rPr>
              <a:t>Topological Fingerprinting</a:t>
            </a:r>
            <a:endParaRPr lang="en-US" sz="2100" dirty="0"/>
          </a:p>
        </p:txBody>
      </p:sp>
      <p:sp>
        <p:nvSpPr>
          <p:cNvPr id="53" name="Text 51"/>
          <p:cNvSpPr/>
          <p:nvPr/>
        </p:nvSpPr>
        <p:spPr>
          <a:xfrm>
            <a:off x="12772024" y="3113214"/>
            <a:ext cx="3421499" cy="280555"/>
          </a:xfrm>
          <a:prstGeom prst="rect">
            <a:avLst/>
          </a:prstGeom>
          <a:noFill/>
          <a:ln/>
        </p:spPr>
        <p:txBody>
          <a:bodyPr wrap="square" lIns="25400" tIns="25400" rIns="25400" bIns="25400" rtlCol="0" anchor="t">
            <a:normAutofit/>
          </a:bodyPr>
          <a:lstStyle/>
          <a:p>
            <a:pPr marL="0" indent="0" algn="l">
              <a:buNone/>
            </a:pPr>
            <a:r>
              <a:rPr lang="en-US" sz="1650" dirty="0">
                <a:solidFill>
                  <a:srgbClr val="8888A8"/>
                </a:solidFill>
                <a:latin typeface="Arial" pitchFamily="34" charset="0"/>
                <a:ea typeface="Arial" pitchFamily="34" charset="-122"/>
                <a:cs typeface="Arial" pitchFamily="34" charset="-120"/>
              </a:rPr>
              <a:t>Match by graph shape, not name</a:t>
            </a:r>
            <a:endParaRPr lang="en-US" sz="1650" dirty="0"/>
          </a:p>
        </p:txBody>
      </p:sp>
      <p:sp>
        <p:nvSpPr>
          <p:cNvPr id="54" name="Text 52"/>
          <p:cNvSpPr/>
          <p:nvPr/>
        </p:nvSpPr>
        <p:spPr>
          <a:xfrm>
            <a:off x="11921490" y="3649942"/>
            <a:ext cx="5494020"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50000"/>
                  </a:srgbClr>
                </a:solidFill>
                <a:latin typeface="Arial" pitchFamily="34" charset="0"/>
                <a:ea typeface="Arial" pitchFamily="34" charset="-122"/>
                <a:cs typeface="Arial" pitchFamily="34" charset="-120"/>
              </a:rPr>
              <a:t>▼</a:t>
            </a:r>
            <a:endParaRPr lang="en-US" sz="1800" dirty="0"/>
          </a:p>
        </p:txBody>
      </p:sp>
      <p:sp>
        <p:nvSpPr>
          <p:cNvPr id="55" name="Shape 53"/>
          <p:cNvSpPr/>
          <p:nvPr/>
        </p:nvSpPr>
        <p:spPr>
          <a:xfrm>
            <a:off x="12001500" y="3954769"/>
            <a:ext cx="5334000" cy="1288175"/>
          </a:xfrm>
          <a:prstGeom prst="roundRect">
            <a:avLst>
              <a:gd name="adj" fmla="val 7394"/>
            </a:avLst>
          </a:prstGeom>
          <a:solidFill>
            <a:srgbClr val="111118"/>
          </a:solidFill>
          <a:ln w="8659">
            <a:solidFill>
              <a:srgbClr val="FFFFFF">
                <a:alpha val="6000"/>
              </a:srgbClr>
            </a:solidFill>
            <a:prstDash val="solid"/>
          </a:ln>
        </p:spPr>
        <p:txBody>
          <a:bodyPr/>
          <a:lstStyle/>
          <a:p>
            <a:endParaRPr lang="en-US"/>
          </a:p>
        </p:txBody>
      </p:sp>
      <p:sp>
        <p:nvSpPr>
          <p:cNvPr id="56" name="Text 54"/>
          <p:cNvSpPr/>
          <p:nvPr/>
        </p:nvSpPr>
        <p:spPr>
          <a:xfrm>
            <a:off x="12276832" y="4460243"/>
            <a:ext cx="380892" cy="315191"/>
          </a:xfrm>
          <a:prstGeom prst="rect">
            <a:avLst/>
          </a:prstGeom>
          <a:noFill/>
          <a:ln/>
        </p:spPr>
        <p:txBody>
          <a:bodyPr wrap="square" lIns="25400" tIns="25400" rIns="25400" bIns="25400" rtlCol="0" anchor="t">
            <a:normAutofit/>
          </a:bodyPr>
          <a:lstStyle/>
          <a:p>
            <a:pPr marL="0" indent="0" algn="l">
              <a:buNone/>
            </a:pPr>
            <a:r>
              <a:rPr lang="en-US" sz="1650" b="1" dirty="0">
                <a:solidFill>
                  <a:srgbClr val="5E6AD2"/>
                </a:solidFill>
                <a:latin typeface="Arial" pitchFamily="34" charset="0"/>
                <a:ea typeface="Arial" pitchFamily="34" charset="-122"/>
                <a:cs typeface="Arial" pitchFamily="34" charset="-120"/>
              </a:rPr>
              <a:t>L3</a:t>
            </a:r>
            <a:endParaRPr lang="en-US" sz="1650" dirty="0"/>
          </a:p>
        </p:txBody>
      </p:sp>
      <p:sp>
        <p:nvSpPr>
          <p:cNvPr id="57" name="Text 55"/>
          <p:cNvSpPr/>
          <p:nvPr/>
        </p:nvSpPr>
        <p:spPr>
          <a:xfrm>
            <a:off x="12772024" y="4172870"/>
            <a:ext cx="4416788" cy="36714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rial" pitchFamily="34" charset="0"/>
                <a:ea typeface="Arial" pitchFamily="34" charset="-122"/>
                <a:cs typeface="Arial" pitchFamily="34" charset="-120"/>
              </a:rPr>
              <a:t>Perspective Convergence</a:t>
            </a:r>
            <a:endParaRPr lang="en-US" sz="2100" dirty="0"/>
          </a:p>
        </p:txBody>
      </p:sp>
      <p:sp>
        <p:nvSpPr>
          <p:cNvPr id="58" name="Text 56"/>
          <p:cNvSpPr/>
          <p:nvPr/>
        </p:nvSpPr>
        <p:spPr>
          <a:xfrm>
            <a:off x="12772024" y="4539934"/>
            <a:ext cx="4416788" cy="523009"/>
          </a:xfrm>
          <a:prstGeom prst="rect">
            <a:avLst/>
          </a:prstGeom>
          <a:noFill/>
          <a:ln/>
        </p:spPr>
        <p:txBody>
          <a:bodyPr wrap="square" lIns="25400" tIns="25400" rIns="25400" bIns="25400" rtlCol="0" anchor="t">
            <a:normAutofit/>
          </a:bodyPr>
          <a:lstStyle/>
          <a:p>
            <a:pPr marL="0" indent="0" algn="l">
              <a:buNone/>
            </a:pPr>
            <a:r>
              <a:rPr lang="en-US" sz="1650" dirty="0">
                <a:solidFill>
                  <a:srgbClr val="8888A8"/>
                </a:solidFill>
                <a:latin typeface="Arial" pitchFamily="34" charset="0"/>
                <a:ea typeface="Arial" pitchFamily="34" charset="-122"/>
                <a:cs typeface="Arial" pitchFamily="34" charset="-120"/>
              </a:rPr>
              <a:t>Hungarian algorithm — globally optimal alignment</a:t>
            </a:r>
            <a:endParaRPr lang="en-US" sz="1650" dirty="0"/>
          </a:p>
        </p:txBody>
      </p:sp>
      <p:sp>
        <p:nvSpPr>
          <p:cNvPr id="59" name="Text 57"/>
          <p:cNvSpPr/>
          <p:nvPr/>
        </p:nvSpPr>
        <p:spPr>
          <a:xfrm>
            <a:off x="11921490" y="5319117"/>
            <a:ext cx="5494020"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50000"/>
                  </a:srgbClr>
                </a:solidFill>
                <a:latin typeface="Arial" pitchFamily="34" charset="0"/>
                <a:ea typeface="Arial" pitchFamily="34" charset="-122"/>
                <a:cs typeface="Arial" pitchFamily="34" charset="-120"/>
              </a:rPr>
              <a:t>▼</a:t>
            </a:r>
            <a:endParaRPr lang="en-US" sz="1800" dirty="0"/>
          </a:p>
        </p:txBody>
      </p:sp>
      <p:sp>
        <p:nvSpPr>
          <p:cNvPr id="60" name="Shape 58"/>
          <p:cNvSpPr/>
          <p:nvPr/>
        </p:nvSpPr>
        <p:spPr>
          <a:xfrm>
            <a:off x="12001500" y="5623944"/>
            <a:ext cx="5334000" cy="1617220"/>
          </a:xfrm>
          <a:prstGeom prst="roundRect">
            <a:avLst>
              <a:gd name="adj" fmla="val 5890"/>
            </a:avLst>
          </a:prstGeom>
          <a:solidFill>
            <a:srgbClr val="111118"/>
          </a:solidFill>
          <a:ln w="8659">
            <a:solidFill>
              <a:srgbClr val="FFFFFF">
                <a:alpha val="6000"/>
              </a:srgbClr>
            </a:solidFill>
            <a:prstDash val="solid"/>
          </a:ln>
        </p:spPr>
        <p:txBody>
          <a:bodyPr/>
          <a:lstStyle/>
          <a:p>
            <a:endParaRPr lang="en-US"/>
          </a:p>
        </p:txBody>
      </p:sp>
      <p:sp>
        <p:nvSpPr>
          <p:cNvPr id="61" name="Text 59"/>
          <p:cNvSpPr/>
          <p:nvPr/>
        </p:nvSpPr>
        <p:spPr>
          <a:xfrm>
            <a:off x="12276832" y="6293941"/>
            <a:ext cx="380892" cy="315191"/>
          </a:xfrm>
          <a:prstGeom prst="rect">
            <a:avLst/>
          </a:prstGeom>
          <a:noFill/>
          <a:ln/>
        </p:spPr>
        <p:txBody>
          <a:bodyPr wrap="square" lIns="25400" tIns="25400" rIns="25400" bIns="25400" rtlCol="0" anchor="t">
            <a:normAutofit/>
          </a:bodyPr>
          <a:lstStyle/>
          <a:p>
            <a:pPr marL="0" indent="0" algn="l">
              <a:buNone/>
            </a:pPr>
            <a:r>
              <a:rPr lang="en-US" sz="1650" b="1" dirty="0">
                <a:solidFill>
                  <a:srgbClr val="5E6AD2"/>
                </a:solidFill>
                <a:latin typeface="Arial" pitchFamily="34" charset="0"/>
                <a:ea typeface="Arial" pitchFamily="34" charset="-122"/>
                <a:cs typeface="Arial" pitchFamily="34" charset="-120"/>
              </a:rPr>
              <a:t>L4</a:t>
            </a:r>
            <a:endParaRPr lang="en-US" sz="1650" dirty="0"/>
          </a:p>
        </p:txBody>
      </p:sp>
      <p:sp>
        <p:nvSpPr>
          <p:cNvPr id="62" name="Text 60"/>
          <p:cNvSpPr/>
          <p:nvPr/>
        </p:nvSpPr>
        <p:spPr>
          <a:xfrm>
            <a:off x="12772024" y="5842045"/>
            <a:ext cx="4416788" cy="696191"/>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rial" pitchFamily="34" charset="0"/>
                <a:ea typeface="Arial" pitchFamily="34" charset="-122"/>
                <a:cs typeface="Arial" pitchFamily="34" charset="-120"/>
              </a:rPr>
              <a:t>Confidence-Weighted Truth Resolution</a:t>
            </a:r>
            <a:endParaRPr lang="en-US" sz="2100" dirty="0"/>
          </a:p>
        </p:txBody>
      </p:sp>
      <p:sp>
        <p:nvSpPr>
          <p:cNvPr id="63" name="Text 61"/>
          <p:cNvSpPr/>
          <p:nvPr/>
        </p:nvSpPr>
        <p:spPr>
          <a:xfrm>
            <a:off x="12772024" y="6538154"/>
            <a:ext cx="4416788" cy="523009"/>
          </a:xfrm>
          <a:prstGeom prst="rect">
            <a:avLst/>
          </a:prstGeom>
          <a:noFill/>
          <a:ln/>
        </p:spPr>
        <p:txBody>
          <a:bodyPr wrap="square" lIns="25400" tIns="25400" rIns="25400" bIns="25400" rtlCol="0" anchor="t">
            <a:normAutofit/>
          </a:bodyPr>
          <a:lstStyle/>
          <a:p>
            <a:pPr marL="0" indent="0" algn="l">
              <a:buNone/>
            </a:pPr>
            <a:r>
              <a:rPr lang="en-US" sz="1650" dirty="0">
                <a:solidFill>
                  <a:srgbClr val="8888A8"/>
                </a:solidFill>
                <a:latin typeface="Arial" pitchFamily="34" charset="0"/>
                <a:ea typeface="Arial" pitchFamily="34" charset="-122"/>
                <a:cs typeface="Arial" pitchFamily="34" charset="-120"/>
              </a:rPr>
              <a:t>K8s replicas + Datadog latency + doc ownership</a:t>
            </a:r>
            <a:endParaRPr lang="en-US" sz="1650" dirty="0"/>
          </a:p>
        </p:txBody>
      </p:sp>
      <p:sp>
        <p:nvSpPr>
          <p:cNvPr id="64" name="Text 62"/>
          <p:cNvSpPr/>
          <p:nvPr/>
        </p:nvSpPr>
        <p:spPr>
          <a:xfrm>
            <a:off x="11921490" y="7317338"/>
            <a:ext cx="5494020"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50000"/>
                  </a:srgbClr>
                </a:solidFill>
                <a:latin typeface="Arial" pitchFamily="34" charset="0"/>
                <a:ea typeface="Arial" pitchFamily="34" charset="-122"/>
                <a:cs typeface="Arial" pitchFamily="34" charset="-120"/>
              </a:rPr>
              <a:t>▼</a:t>
            </a:r>
            <a:endParaRPr lang="en-US" sz="1800" dirty="0"/>
          </a:p>
        </p:txBody>
      </p:sp>
      <p:sp>
        <p:nvSpPr>
          <p:cNvPr id="65" name="Shape 63"/>
          <p:cNvSpPr/>
          <p:nvPr/>
        </p:nvSpPr>
        <p:spPr>
          <a:xfrm>
            <a:off x="12001500" y="7622164"/>
            <a:ext cx="5334000" cy="1288175"/>
          </a:xfrm>
          <a:prstGeom prst="roundRect">
            <a:avLst>
              <a:gd name="adj" fmla="val 7394"/>
            </a:avLst>
          </a:prstGeom>
          <a:solidFill>
            <a:srgbClr val="111118"/>
          </a:solidFill>
          <a:ln w="8659">
            <a:solidFill>
              <a:srgbClr val="FFFFFF">
                <a:alpha val="6000"/>
              </a:srgbClr>
            </a:solidFill>
            <a:prstDash val="solid"/>
          </a:ln>
        </p:spPr>
        <p:txBody>
          <a:bodyPr/>
          <a:lstStyle/>
          <a:p>
            <a:endParaRPr lang="en-US"/>
          </a:p>
        </p:txBody>
      </p:sp>
      <p:sp>
        <p:nvSpPr>
          <p:cNvPr id="66" name="Text 64"/>
          <p:cNvSpPr/>
          <p:nvPr/>
        </p:nvSpPr>
        <p:spPr>
          <a:xfrm>
            <a:off x="12276832" y="8127639"/>
            <a:ext cx="380892" cy="315191"/>
          </a:xfrm>
          <a:prstGeom prst="rect">
            <a:avLst/>
          </a:prstGeom>
          <a:noFill/>
          <a:ln/>
        </p:spPr>
        <p:txBody>
          <a:bodyPr wrap="square" lIns="25400" tIns="25400" rIns="25400" bIns="25400" rtlCol="0" anchor="t">
            <a:normAutofit/>
          </a:bodyPr>
          <a:lstStyle/>
          <a:p>
            <a:pPr marL="0" indent="0" algn="l">
              <a:buNone/>
            </a:pPr>
            <a:r>
              <a:rPr lang="en-US" sz="1650" b="1" dirty="0">
                <a:solidFill>
                  <a:srgbClr val="5E6AD2"/>
                </a:solidFill>
                <a:latin typeface="Arial" pitchFamily="34" charset="0"/>
                <a:ea typeface="Arial" pitchFamily="34" charset="-122"/>
                <a:cs typeface="Arial" pitchFamily="34" charset="-120"/>
              </a:rPr>
              <a:t>L5</a:t>
            </a:r>
            <a:endParaRPr lang="en-US" sz="1650" dirty="0"/>
          </a:p>
        </p:txBody>
      </p:sp>
      <p:sp>
        <p:nvSpPr>
          <p:cNvPr id="67" name="Text 65"/>
          <p:cNvSpPr/>
          <p:nvPr/>
        </p:nvSpPr>
        <p:spPr>
          <a:xfrm>
            <a:off x="12772024" y="7840266"/>
            <a:ext cx="4416788" cy="36714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rial" pitchFamily="34" charset="0"/>
                <a:ea typeface="Arial" pitchFamily="34" charset="-122"/>
                <a:cs typeface="Arial" pitchFamily="34" charset="-120"/>
              </a:rPr>
              <a:t>Causal Graph Construction</a:t>
            </a:r>
            <a:endParaRPr lang="en-US" sz="2100" dirty="0"/>
          </a:p>
        </p:txBody>
      </p:sp>
      <p:sp>
        <p:nvSpPr>
          <p:cNvPr id="68" name="Text 66"/>
          <p:cNvSpPr/>
          <p:nvPr/>
        </p:nvSpPr>
        <p:spPr>
          <a:xfrm>
            <a:off x="12772024" y="8207330"/>
            <a:ext cx="4416788" cy="523009"/>
          </a:xfrm>
          <a:prstGeom prst="rect">
            <a:avLst/>
          </a:prstGeom>
          <a:noFill/>
          <a:ln/>
        </p:spPr>
        <p:txBody>
          <a:bodyPr wrap="square" lIns="25400" tIns="25400" rIns="25400" bIns="25400" rtlCol="0" anchor="t">
            <a:normAutofit/>
          </a:bodyPr>
          <a:lstStyle/>
          <a:p>
            <a:pPr marL="0" indent="0" algn="l">
              <a:buNone/>
            </a:pPr>
            <a:r>
              <a:rPr lang="en-US" sz="1650" dirty="0">
                <a:solidFill>
                  <a:srgbClr val="8888A8"/>
                </a:solidFill>
                <a:latin typeface="Arial" pitchFamily="34" charset="0"/>
                <a:ea typeface="Arial" pitchFamily="34" charset="-122"/>
                <a:cs typeface="Arial" pitchFamily="34" charset="-120"/>
              </a:rPr>
              <a:t>Infers WHY — not just THAT — via temporal correlation</a:t>
            </a:r>
            <a:endParaRPr lang="en-US" sz="1650" dirty="0"/>
          </a:p>
        </p:txBody>
      </p:sp>
      <p:sp>
        <p:nvSpPr>
          <p:cNvPr id="69" name="Text 67"/>
          <p:cNvSpPr/>
          <p:nvPr/>
        </p:nvSpPr>
        <p:spPr>
          <a:xfrm>
            <a:off x="11921490" y="8986513"/>
            <a:ext cx="5494020"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50000"/>
                  </a:srgbClr>
                </a:solidFill>
                <a:latin typeface="Arial" pitchFamily="34" charset="0"/>
                <a:ea typeface="Arial" pitchFamily="34" charset="-122"/>
                <a:cs typeface="Arial" pitchFamily="34" charset="-120"/>
              </a:rPr>
              <a:t>▼</a:t>
            </a:r>
            <a:endParaRPr lang="en-US" sz="1800" dirty="0"/>
          </a:p>
        </p:txBody>
      </p:sp>
      <p:sp>
        <p:nvSpPr>
          <p:cNvPr id="70" name="Shape 68"/>
          <p:cNvSpPr/>
          <p:nvPr/>
        </p:nvSpPr>
        <p:spPr>
          <a:xfrm>
            <a:off x="12001500" y="9291339"/>
            <a:ext cx="5334000" cy="1312664"/>
          </a:xfrm>
          <a:prstGeom prst="roundRect">
            <a:avLst>
              <a:gd name="adj" fmla="val 7256"/>
            </a:avLst>
          </a:prstGeom>
          <a:solidFill>
            <a:srgbClr val="5E6AD2">
              <a:alpha val="15000"/>
            </a:srgbClr>
          </a:solidFill>
          <a:ln w="8659">
            <a:solidFill>
              <a:srgbClr val="5E6AD2">
                <a:alpha val="40000"/>
              </a:srgbClr>
            </a:solidFill>
            <a:prstDash val="solid"/>
          </a:ln>
          <a:effectLst>
            <a:outerShdw blurRad="266700" dist="50800" dir="16200000" algn="bl" rotWithShape="0">
              <a:srgbClr val="5E6AD2">
                <a:alpha val="20000"/>
              </a:srgbClr>
            </a:outerShdw>
          </a:effectLst>
        </p:spPr>
        <p:txBody>
          <a:bodyPr/>
          <a:lstStyle/>
          <a:p>
            <a:endParaRPr lang="en-US"/>
          </a:p>
        </p:txBody>
      </p:sp>
      <p:sp>
        <p:nvSpPr>
          <p:cNvPr id="71" name="Text 69"/>
          <p:cNvSpPr/>
          <p:nvPr/>
        </p:nvSpPr>
        <p:spPr>
          <a:xfrm>
            <a:off x="12126624" y="9490499"/>
            <a:ext cx="5083752" cy="306532"/>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5E6AD2"/>
                </a:solidFill>
                <a:latin typeface="Arial" pitchFamily="34" charset="0"/>
                <a:ea typeface="Arial" pitchFamily="34" charset="-122"/>
                <a:cs typeface="Arial" pitchFamily="34" charset="-120"/>
              </a:rPr>
              <a:t>UNIFIED KNOWLEDGE GRAPH</a:t>
            </a:r>
            <a:endParaRPr lang="en-US" sz="1800" dirty="0"/>
          </a:p>
        </p:txBody>
      </p:sp>
      <p:sp>
        <p:nvSpPr>
          <p:cNvPr id="72" name="Text 70"/>
          <p:cNvSpPr/>
          <p:nvPr/>
        </p:nvSpPr>
        <p:spPr>
          <a:xfrm>
            <a:off x="12126624" y="9816026"/>
            <a:ext cx="5083752" cy="626918"/>
          </a:xfrm>
          <a:prstGeom prst="rect">
            <a:avLst/>
          </a:prstGeom>
          <a:noFill/>
          <a:ln/>
        </p:spPr>
        <p:txBody>
          <a:bodyPr wrap="square" lIns="25400" tIns="25400" rIns="25400" bIns="25400" rtlCol="0" anchor="t">
            <a:normAutofit/>
          </a:bodyPr>
          <a:lstStyle/>
          <a:p>
            <a:pPr marL="0" indent="0" algn="ctr">
              <a:buNone/>
            </a:pPr>
            <a:r>
              <a:rPr lang="en-US" sz="1950" b="1" dirty="0">
                <a:solidFill>
                  <a:srgbClr val="EDEDF8"/>
                </a:solidFill>
                <a:latin typeface="-apple-system" pitchFamily="34" charset="0"/>
                <a:ea typeface="-apple-system" pitchFamily="34" charset="-122"/>
                <a:cs typeface="-apple-system" pitchFamily="34" charset="-120"/>
              </a:rPr>
              <a:t>Live state + business context + ownership + compliance</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FFFFFF">
              <a:alpha val="3000"/>
            </a:srgbClr>
          </a:solidFill>
          <a:ln/>
        </p:spPr>
        <p:txBody>
          <a:bodyPr/>
          <a:lstStyle/>
          <a:p>
            <a:endParaRPr lang="en-US"/>
          </a:p>
        </p:txBody>
      </p:sp>
      <p:sp>
        <p:nvSpPr>
          <p:cNvPr id="3" name="Shape 1"/>
          <p:cNvSpPr/>
          <p:nvPr/>
        </p:nvSpPr>
        <p:spPr>
          <a:xfrm>
            <a:off x="0" y="0"/>
            <a:ext cx="18287999" cy="10287000"/>
          </a:xfrm>
          <a:prstGeom prst="rect">
            <a:avLst/>
          </a:prstGeom>
          <a:solidFill>
            <a:srgbClr val="22D3EE">
              <a:alpha val="5000"/>
            </a:srgbClr>
          </a:solidFill>
          <a:ln/>
        </p:spPr>
        <p:txBody>
          <a:bodyPr/>
          <a:lstStyle/>
          <a:p>
            <a:endParaRPr lang="en-US"/>
          </a:p>
        </p:txBody>
      </p:sp>
      <p:sp>
        <p:nvSpPr>
          <p:cNvPr id="4" name="Text 2"/>
          <p:cNvSpPr/>
          <p:nvPr/>
        </p:nvSpPr>
        <p:spPr>
          <a:xfrm>
            <a:off x="952500" y="857250"/>
            <a:ext cx="5760331"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DIFFERENTIATION</a:t>
            </a:r>
            <a:endParaRPr lang="en-US" sz="1800" dirty="0"/>
          </a:p>
        </p:txBody>
      </p:sp>
      <p:sp>
        <p:nvSpPr>
          <p:cNvPr id="5" name="Text 3"/>
          <p:cNvSpPr/>
          <p:nvPr/>
        </p:nvSpPr>
        <p:spPr>
          <a:xfrm>
            <a:off x="952500" y="1331741"/>
            <a:ext cx="5760331" cy="1379177"/>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120" dirty="0">
                <a:solidFill>
                  <a:srgbClr val="EDEDF8"/>
                </a:solidFill>
                <a:latin typeface="Arial" pitchFamily="34" charset="0"/>
                <a:ea typeface="Arial" pitchFamily="34" charset="-122"/>
                <a:cs typeface="Arial" pitchFamily="34" charset="-120"/>
              </a:rPr>
              <a:t>Prism is not a CMDB replacement.</a:t>
            </a:r>
            <a:endParaRPr lang="en-US" sz="4800" dirty="0"/>
          </a:p>
        </p:txBody>
      </p:sp>
      <p:sp>
        <p:nvSpPr>
          <p:cNvPr id="6" name="Text 4"/>
          <p:cNvSpPr/>
          <p:nvPr/>
        </p:nvSpPr>
        <p:spPr>
          <a:xfrm>
            <a:off x="13781890" y="1393031"/>
            <a:ext cx="3553609" cy="1317887"/>
          </a:xfrm>
          <a:prstGeom prst="rect">
            <a:avLst/>
          </a:prstGeom>
          <a:noFill/>
          <a:ln/>
        </p:spPr>
        <p:txBody>
          <a:bodyPr wrap="square" lIns="25400" tIns="25400" rIns="25400" bIns="25400" rtlCol="0" anchor="t">
            <a:normAutofit/>
          </a:bodyPr>
          <a:lstStyle/>
          <a:p>
            <a:pPr marL="0" indent="0" algn="r">
              <a:lnSpc>
                <a:spcPct val="160000"/>
              </a:lnSpc>
              <a:buNone/>
            </a:pPr>
            <a:r>
              <a:rPr lang="en-US" sz="2100" dirty="0">
                <a:solidFill>
                  <a:srgbClr val="8888A8"/>
                </a:solidFill>
                <a:latin typeface="-apple-system" pitchFamily="34" charset="0"/>
                <a:ea typeface="-apple-system" pitchFamily="34" charset="-122"/>
                <a:cs typeface="-apple-system" pitchFamily="34" charset="-120"/>
              </a:rPr>
              <a:t>It's the intelligence layer that makes every tool you own finally tell the truth.</a:t>
            </a:r>
            <a:endParaRPr lang="en-US" sz="2100" dirty="0"/>
          </a:p>
        </p:txBody>
      </p:sp>
      <p:sp>
        <p:nvSpPr>
          <p:cNvPr id="7" name="Shape 5"/>
          <p:cNvSpPr/>
          <p:nvPr/>
        </p:nvSpPr>
        <p:spPr>
          <a:xfrm>
            <a:off x="952500" y="3168010"/>
            <a:ext cx="3924327" cy="6356990"/>
          </a:xfrm>
          <a:prstGeom prst="roundRect">
            <a:avLst>
              <a:gd name="adj" fmla="val 2913"/>
            </a:avLst>
          </a:prstGeom>
          <a:solidFill>
            <a:srgbClr val="111118"/>
          </a:solidFill>
          <a:ln w="8659">
            <a:solidFill>
              <a:srgbClr val="22D3EE">
                <a:alpha val="20000"/>
              </a:srgbClr>
            </a:solidFill>
            <a:prstDash val="solid"/>
          </a:ln>
        </p:spPr>
        <p:txBody>
          <a:bodyPr/>
          <a:lstStyle/>
          <a:p>
            <a:endParaRPr lang="en-US"/>
          </a:p>
        </p:txBody>
      </p:sp>
      <p:sp>
        <p:nvSpPr>
          <p:cNvPr id="8" name="Shape 6"/>
          <p:cNvSpPr/>
          <p:nvPr/>
        </p:nvSpPr>
        <p:spPr>
          <a:xfrm>
            <a:off x="1342159" y="3519515"/>
            <a:ext cx="381000" cy="381000"/>
          </a:xfrm>
          <a:prstGeom prst="roundRect">
            <a:avLst>
              <a:gd name="adj" fmla="val 25000"/>
            </a:avLst>
          </a:prstGeom>
          <a:solidFill>
            <a:srgbClr val="22D3EE">
              <a:alpha val="10000"/>
            </a:srgbClr>
          </a:solidFill>
          <a:ln w="8659">
            <a:solidFill>
              <a:srgbClr val="22D3EE">
                <a:alpha val="25000"/>
              </a:srgbClr>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446880" y="3624235"/>
            <a:ext cx="171423" cy="171423"/>
          </a:xfrm>
          <a:prstGeom prst="rect">
            <a:avLst/>
          </a:prstGeom>
        </p:spPr>
      </p:pic>
      <p:sp>
        <p:nvSpPr>
          <p:cNvPr id="10" name="Text 7"/>
          <p:cNvSpPr/>
          <p:nvPr/>
        </p:nvSpPr>
        <p:spPr>
          <a:xfrm>
            <a:off x="1856428" y="3554151"/>
            <a:ext cx="778804"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22D3EE"/>
                </a:solidFill>
                <a:latin typeface="-apple-system" pitchFamily="34" charset="0"/>
                <a:ea typeface="-apple-system" pitchFamily="34" charset="-122"/>
                <a:cs typeface="-apple-system" pitchFamily="34" charset="-120"/>
              </a:rPr>
              <a:t>Iris AI</a:t>
            </a:r>
            <a:endParaRPr lang="en-US" sz="2100" dirty="0"/>
          </a:p>
        </p:txBody>
      </p:sp>
      <p:sp>
        <p:nvSpPr>
          <p:cNvPr id="11" name="Text 8"/>
          <p:cNvSpPr/>
          <p:nvPr/>
        </p:nvSpPr>
        <p:spPr>
          <a:xfrm>
            <a:off x="1342159" y="4091015"/>
            <a:ext cx="3239359" cy="66155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pple-system" pitchFamily="34" charset="0"/>
                <a:ea typeface="-apple-system" pitchFamily="34" charset="-122"/>
                <a:cs typeface="-apple-system" pitchFamily="34" charset="-120"/>
              </a:rPr>
              <a:t>Zero hallucinations by design</a:t>
            </a:r>
            <a:endParaRPr lang="en-US" sz="2100" dirty="0"/>
          </a:p>
        </p:txBody>
      </p:sp>
      <p:sp>
        <p:nvSpPr>
          <p:cNvPr id="12" name="Text 9"/>
          <p:cNvSpPr/>
          <p:nvPr/>
        </p:nvSpPr>
        <p:spPr>
          <a:xfrm>
            <a:off x="1342159" y="4904969"/>
            <a:ext cx="3239359" cy="3333560"/>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8888A8"/>
                </a:solidFill>
                <a:latin typeface="-apple-system" pitchFamily="34" charset="0"/>
                <a:ea typeface="-apple-system" pitchFamily="34" charset="-122"/>
                <a:cs typeface="-apple-system" pitchFamily="34" charset="-120"/>
              </a:rPr>
              <a:t>7-safeguard anti-hallucination pipeline. Every answer traces to a graph node or document. Confidence scored 0.0–1.0. Model-agnostic: GPT-4o, Claude, Bedrock, Ollama.</a:t>
            </a:r>
            <a:endParaRPr lang="en-US" sz="1950" dirty="0"/>
          </a:p>
        </p:txBody>
      </p:sp>
      <p:sp>
        <p:nvSpPr>
          <p:cNvPr id="13" name="Shape 10"/>
          <p:cNvSpPr/>
          <p:nvPr/>
        </p:nvSpPr>
        <p:spPr>
          <a:xfrm>
            <a:off x="1342159" y="8390929"/>
            <a:ext cx="3145009" cy="782565"/>
          </a:xfrm>
          <a:prstGeom prst="roundRect">
            <a:avLst>
              <a:gd name="adj" fmla="val 9737"/>
            </a:avLst>
          </a:prstGeom>
          <a:solidFill>
            <a:srgbClr val="22D3EE">
              <a:alpha val="10000"/>
            </a:srgbClr>
          </a:solidFill>
          <a:ln w="8659">
            <a:solidFill>
              <a:srgbClr val="22D3EE">
                <a:alpha val="20000"/>
              </a:srgbClr>
            </a:solidFill>
            <a:prstDash val="solid"/>
          </a:ln>
        </p:spPr>
        <p:txBody>
          <a:bodyPr/>
          <a:lstStyle/>
          <a:p>
            <a:endParaRPr lang="en-US"/>
          </a:p>
        </p:txBody>
      </p:sp>
      <p:sp>
        <p:nvSpPr>
          <p:cNvPr id="14" name="Text 11"/>
          <p:cNvSpPr/>
          <p:nvPr/>
        </p:nvSpPr>
        <p:spPr>
          <a:xfrm>
            <a:off x="1503218" y="8513888"/>
            <a:ext cx="2917241" cy="574747"/>
          </a:xfrm>
          <a:prstGeom prst="rect">
            <a:avLst/>
          </a:prstGeom>
          <a:noFill/>
          <a:ln/>
        </p:spPr>
        <p:txBody>
          <a:bodyPr wrap="square" lIns="25400" tIns="25400" rIns="25400" bIns="25400" rtlCol="0" anchor="t">
            <a:normAutofit/>
          </a:bodyPr>
          <a:lstStyle/>
          <a:p>
            <a:pPr marL="0" indent="0" algn="l">
              <a:buNone/>
            </a:pPr>
            <a:r>
              <a:rPr lang="en-US" sz="1800" dirty="0">
                <a:solidFill>
                  <a:srgbClr val="22D3EE"/>
                </a:solidFill>
                <a:latin typeface="Arial" pitchFamily="34" charset="0"/>
                <a:ea typeface="Arial" pitchFamily="34" charset="-122"/>
                <a:cs typeface="Arial" pitchFamily="34" charset="-120"/>
              </a:rPr>
              <a:t>0 hallucinations · 97% accuracy</a:t>
            </a:r>
            <a:endParaRPr lang="en-US" sz="1800" dirty="0"/>
          </a:p>
        </p:txBody>
      </p:sp>
      <p:sp>
        <p:nvSpPr>
          <p:cNvPr id="15" name="Shape 12"/>
          <p:cNvSpPr/>
          <p:nvPr/>
        </p:nvSpPr>
        <p:spPr>
          <a:xfrm>
            <a:off x="5105346" y="3168010"/>
            <a:ext cx="3924327" cy="6356990"/>
          </a:xfrm>
          <a:prstGeom prst="roundRect">
            <a:avLst>
              <a:gd name="adj" fmla="val 2913"/>
            </a:avLst>
          </a:prstGeom>
          <a:solidFill>
            <a:srgbClr val="111118"/>
          </a:solidFill>
          <a:ln w="8659">
            <a:solidFill>
              <a:srgbClr val="FFFFFF">
                <a:alpha val="6000"/>
              </a:srgbClr>
            </a:solidFill>
            <a:prstDash val="solid"/>
          </a:ln>
        </p:spPr>
        <p:txBody>
          <a:bodyPr/>
          <a:lstStyle/>
          <a:p>
            <a:endParaRPr lang="en-US"/>
          </a:p>
        </p:txBody>
      </p:sp>
      <p:sp>
        <p:nvSpPr>
          <p:cNvPr id="16" name="Shape 13"/>
          <p:cNvSpPr/>
          <p:nvPr/>
        </p:nvSpPr>
        <p:spPr>
          <a:xfrm>
            <a:off x="5495005" y="3519515"/>
            <a:ext cx="381000" cy="381000"/>
          </a:xfrm>
          <a:prstGeom prst="roundRect">
            <a:avLst>
              <a:gd name="adj" fmla="val 25000"/>
            </a:avLst>
          </a:prstGeom>
          <a:solidFill>
            <a:srgbClr val="34D399">
              <a:alpha val="10000"/>
            </a:srgbClr>
          </a:solidFill>
          <a:ln w="8659">
            <a:solidFill>
              <a:srgbClr val="34D399">
                <a:alpha val="25000"/>
              </a:srgbClr>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5599726" y="3624235"/>
            <a:ext cx="171423" cy="171423"/>
          </a:xfrm>
          <a:prstGeom prst="rect">
            <a:avLst/>
          </a:prstGeom>
        </p:spPr>
      </p:pic>
      <p:sp>
        <p:nvSpPr>
          <p:cNvPr id="18" name="Text 14"/>
          <p:cNvSpPr/>
          <p:nvPr/>
        </p:nvSpPr>
        <p:spPr>
          <a:xfrm>
            <a:off x="6009273" y="3554151"/>
            <a:ext cx="1120703"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34D399"/>
                </a:solidFill>
                <a:latin typeface="-apple-system" pitchFamily="34" charset="0"/>
                <a:ea typeface="-apple-system" pitchFamily="34" charset="-122"/>
                <a:cs typeface="-apple-system" pitchFamily="34" charset="-120"/>
              </a:rPr>
              <a:t>Security</a:t>
            </a:r>
            <a:endParaRPr lang="en-US" sz="2100" dirty="0"/>
          </a:p>
        </p:txBody>
      </p:sp>
      <p:sp>
        <p:nvSpPr>
          <p:cNvPr id="19" name="Text 15"/>
          <p:cNvSpPr/>
          <p:nvPr/>
        </p:nvSpPr>
        <p:spPr>
          <a:xfrm>
            <a:off x="5495005" y="4091015"/>
            <a:ext cx="3239359" cy="66155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pple-system" pitchFamily="34" charset="0"/>
                <a:ea typeface="-apple-system" pitchFamily="34" charset="-122"/>
                <a:cs typeface="-apple-system" pitchFamily="34" charset="-120"/>
              </a:rPr>
              <a:t>Built for regulated industries</a:t>
            </a:r>
            <a:endParaRPr lang="en-US" sz="2100" dirty="0"/>
          </a:p>
        </p:txBody>
      </p:sp>
      <p:sp>
        <p:nvSpPr>
          <p:cNvPr id="20" name="Text 16"/>
          <p:cNvSpPr/>
          <p:nvPr/>
        </p:nvSpPr>
        <p:spPr>
          <a:xfrm>
            <a:off x="5495005" y="4904969"/>
            <a:ext cx="3239359" cy="3333560"/>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8888A8"/>
                </a:solidFill>
                <a:latin typeface="-apple-system" pitchFamily="34" charset="0"/>
                <a:ea typeface="-apple-system" pitchFamily="34" charset="-122"/>
                <a:cs typeface="-apple-system" pitchFamily="34" charset="-120"/>
              </a:rPr>
              <a:t>7-layer security architecture. AES-256 per-tenant encryption, BYOK, RBAC with 7 roles. SOC2 Type II architecture ready. HIPAA and PCI-DSS compliant by design.</a:t>
            </a:r>
            <a:endParaRPr lang="en-US" sz="1950" dirty="0"/>
          </a:p>
        </p:txBody>
      </p:sp>
      <p:sp>
        <p:nvSpPr>
          <p:cNvPr id="21" name="Shape 17"/>
          <p:cNvSpPr/>
          <p:nvPr/>
        </p:nvSpPr>
        <p:spPr>
          <a:xfrm>
            <a:off x="5495005" y="8390929"/>
            <a:ext cx="3145009" cy="782565"/>
          </a:xfrm>
          <a:prstGeom prst="roundRect">
            <a:avLst>
              <a:gd name="adj" fmla="val 9737"/>
            </a:avLst>
          </a:prstGeom>
          <a:solidFill>
            <a:srgbClr val="34D399">
              <a:alpha val="8000"/>
            </a:srgbClr>
          </a:solidFill>
          <a:ln w="8659">
            <a:solidFill>
              <a:srgbClr val="34D399">
                <a:alpha val="20000"/>
              </a:srgbClr>
            </a:solidFill>
            <a:prstDash val="solid"/>
          </a:ln>
        </p:spPr>
        <p:txBody>
          <a:bodyPr/>
          <a:lstStyle/>
          <a:p>
            <a:endParaRPr lang="en-US"/>
          </a:p>
        </p:txBody>
      </p:sp>
      <p:sp>
        <p:nvSpPr>
          <p:cNvPr id="22" name="Text 18"/>
          <p:cNvSpPr/>
          <p:nvPr/>
        </p:nvSpPr>
        <p:spPr>
          <a:xfrm>
            <a:off x="5656064" y="8513888"/>
            <a:ext cx="2917241" cy="574747"/>
          </a:xfrm>
          <a:prstGeom prst="rect">
            <a:avLst/>
          </a:prstGeom>
          <a:noFill/>
          <a:ln/>
        </p:spPr>
        <p:txBody>
          <a:bodyPr wrap="square" lIns="25400" tIns="25400" rIns="25400" bIns="25400" rtlCol="0" anchor="t">
            <a:normAutofit/>
          </a:bodyPr>
          <a:lstStyle/>
          <a:p>
            <a:pPr marL="0" indent="0" algn="l">
              <a:buNone/>
            </a:pPr>
            <a:r>
              <a:rPr lang="en-US" sz="1800" dirty="0">
                <a:solidFill>
                  <a:srgbClr val="34D399"/>
                </a:solidFill>
                <a:latin typeface="Arial" pitchFamily="34" charset="0"/>
                <a:ea typeface="Arial" pitchFamily="34" charset="-122"/>
                <a:cs typeface="Arial" pitchFamily="34" charset="-120"/>
              </a:rPr>
              <a:t>SOC2 · PCI-DSS · HIPAA · GDPR</a:t>
            </a:r>
            <a:endParaRPr lang="en-US" sz="1800" dirty="0"/>
          </a:p>
        </p:txBody>
      </p:sp>
      <p:sp>
        <p:nvSpPr>
          <p:cNvPr id="23" name="Shape 19"/>
          <p:cNvSpPr/>
          <p:nvPr/>
        </p:nvSpPr>
        <p:spPr>
          <a:xfrm>
            <a:off x="9258191" y="3168010"/>
            <a:ext cx="3924327" cy="6356990"/>
          </a:xfrm>
          <a:prstGeom prst="roundRect">
            <a:avLst>
              <a:gd name="adj" fmla="val 2913"/>
            </a:avLst>
          </a:prstGeom>
          <a:solidFill>
            <a:srgbClr val="111118"/>
          </a:solidFill>
          <a:ln w="8659">
            <a:solidFill>
              <a:srgbClr val="FFFFFF">
                <a:alpha val="6000"/>
              </a:srgbClr>
            </a:solidFill>
            <a:prstDash val="solid"/>
          </a:ln>
        </p:spPr>
        <p:txBody>
          <a:bodyPr/>
          <a:lstStyle/>
          <a:p>
            <a:endParaRPr lang="en-US"/>
          </a:p>
        </p:txBody>
      </p:sp>
      <p:sp>
        <p:nvSpPr>
          <p:cNvPr id="24" name="Shape 20"/>
          <p:cNvSpPr/>
          <p:nvPr/>
        </p:nvSpPr>
        <p:spPr>
          <a:xfrm>
            <a:off x="9647851" y="3519515"/>
            <a:ext cx="381000" cy="381000"/>
          </a:xfrm>
          <a:prstGeom prst="roundRect">
            <a:avLst>
              <a:gd name="adj" fmla="val 25000"/>
            </a:avLst>
          </a:prstGeom>
          <a:solidFill>
            <a:srgbClr val="5E6AD2">
              <a:alpha val="12000"/>
            </a:srgbClr>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9752572" y="3624235"/>
            <a:ext cx="171423" cy="171423"/>
          </a:xfrm>
          <a:prstGeom prst="rect">
            <a:avLst/>
          </a:prstGeom>
        </p:spPr>
      </p:pic>
      <p:sp>
        <p:nvSpPr>
          <p:cNvPr id="26" name="Text 21"/>
          <p:cNvSpPr/>
          <p:nvPr/>
        </p:nvSpPr>
        <p:spPr>
          <a:xfrm>
            <a:off x="10162119" y="3554151"/>
            <a:ext cx="1851720"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7170FF"/>
                </a:solidFill>
                <a:latin typeface="-apple-system" pitchFamily="34" charset="0"/>
                <a:ea typeface="-apple-system" pitchFamily="34" charset="-122"/>
                <a:cs typeface="-apple-system" pitchFamily="34" charset="-120"/>
              </a:rPr>
              <a:t>Every persona</a:t>
            </a:r>
            <a:endParaRPr lang="en-US" sz="2100" dirty="0"/>
          </a:p>
        </p:txBody>
      </p:sp>
      <p:sp>
        <p:nvSpPr>
          <p:cNvPr id="27" name="Text 22"/>
          <p:cNvSpPr/>
          <p:nvPr/>
        </p:nvSpPr>
        <p:spPr>
          <a:xfrm>
            <a:off x="9647851" y="4091015"/>
            <a:ext cx="3239359"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pple-system" pitchFamily="34" charset="0"/>
                <a:ea typeface="-apple-system" pitchFamily="34" charset="-122"/>
                <a:cs typeface="-apple-system" pitchFamily="34" charset="-120"/>
              </a:rPr>
              <a:t>One platform, five roles</a:t>
            </a:r>
            <a:endParaRPr lang="en-US" sz="2100" dirty="0"/>
          </a:p>
        </p:txBody>
      </p:sp>
      <p:sp>
        <p:nvSpPr>
          <p:cNvPr id="28" name="Text 23"/>
          <p:cNvSpPr/>
          <p:nvPr/>
        </p:nvSpPr>
        <p:spPr>
          <a:xfrm>
            <a:off x="9647851" y="4593242"/>
            <a:ext cx="3239359" cy="2612962"/>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8888A8"/>
                </a:solidFill>
                <a:latin typeface="-apple-system" pitchFamily="34" charset="0"/>
                <a:ea typeface="-apple-system" pitchFamily="34" charset="-122"/>
                <a:cs typeface="-apple-system" pitchFamily="34" charset="-120"/>
              </a:rPr>
              <a:t>Developer · SRE · Product Owner · Auditor · Executive. Iris tailors format, depth and alerts per role. The same graph, the right lens.</a:t>
            </a:r>
            <a:endParaRPr lang="en-US" sz="1950" dirty="0"/>
          </a:p>
        </p:txBody>
      </p:sp>
      <p:sp>
        <p:nvSpPr>
          <p:cNvPr id="29" name="Shape 24"/>
          <p:cNvSpPr/>
          <p:nvPr/>
        </p:nvSpPr>
        <p:spPr>
          <a:xfrm>
            <a:off x="9647851" y="7578598"/>
            <a:ext cx="114192" cy="114192"/>
          </a:xfrm>
          <a:prstGeom prst="ellipse">
            <a:avLst/>
          </a:prstGeom>
          <a:solidFill>
            <a:srgbClr val="3B82F6"/>
          </a:solidFill>
          <a:ln/>
        </p:spPr>
        <p:txBody>
          <a:bodyPr/>
          <a:lstStyle/>
          <a:p>
            <a:endParaRPr lang="en-US"/>
          </a:p>
        </p:txBody>
      </p:sp>
      <p:sp>
        <p:nvSpPr>
          <p:cNvPr id="30" name="Text 25"/>
          <p:cNvSpPr/>
          <p:nvPr/>
        </p:nvSpPr>
        <p:spPr>
          <a:xfrm>
            <a:off x="9857293" y="7358603"/>
            <a:ext cx="3023634" cy="592282"/>
          </a:xfrm>
          <a:prstGeom prst="rect">
            <a:avLst/>
          </a:prstGeom>
          <a:noFill/>
          <a:ln/>
        </p:spPr>
        <p:txBody>
          <a:bodyPr wrap="square" lIns="25400" tIns="25400" rIns="25400" bIns="25400" rtlCol="0" anchor="t">
            <a:normAutofit/>
          </a:bodyPr>
          <a:lstStyle/>
          <a:p>
            <a:pPr marL="0" indent="0" algn="l">
              <a:buNone/>
            </a:pPr>
            <a:r>
              <a:rPr lang="en-US" sz="1800" dirty="0">
                <a:solidFill>
                  <a:srgbClr val="8888A8"/>
                </a:solidFill>
                <a:latin typeface="-apple-system" pitchFamily="34" charset="0"/>
                <a:ea typeface="-apple-system" pitchFamily="34" charset="-122"/>
                <a:cs typeface="-apple-system" pitchFamily="34" charset="-120"/>
              </a:rPr>
              <a:t>Developer — blast radius, deps</a:t>
            </a:r>
            <a:endParaRPr lang="en-US" sz="1800" dirty="0"/>
          </a:p>
        </p:txBody>
      </p:sp>
      <p:sp>
        <p:nvSpPr>
          <p:cNvPr id="31" name="Shape 26"/>
          <p:cNvSpPr/>
          <p:nvPr/>
        </p:nvSpPr>
        <p:spPr>
          <a:xfrm>
            <a:off x="9647851" y="8208953"/>
            <a:ext cx="114192" cy="114192"/>
          </a:xfrm>
          <a:prstGeom prst="ellipse">
            <a:avLst/>
          </a:prstGeom>
          <a:solidFill>
            <a:srgbClr val="34D399"/>
          </a:solidFill>
          <a:ln/>
        </p:spPr>
        <p:txBody>
          <a:bodyPr/>
          <a:lstStyle/>
          <a:p>
            <a:endParaRPr lang="en-US"/>
          </a:p>
        </p:txBody>
      </p:sp>
      <p:sp>
        <p:nvSpPr>
          <p:cNvPr id="32" name="Text 27"/>
          <p:cNvSpPr/>
          <p:nvPr/>
        </p:nvSpPr>
        <p:spPr>
          <a:xfrm>
            <a:off x="9857293" y="7988958"/>
            <a:ext cx="3023634" cy="592282"/>
          </a:xfrm>
          <a:prstGeom prst="rect">
            <a:avLst/>
          </a:prstGeom>
          <a:noFill/>
          <a:ln/>
        </p:spPr>
        <p:txBody>
          <a:bodyPr wrap="square" lIns="25400" tIns="25400" rIns="25400" bIns="25400" rtlCol="0" anchor="t">
            <a:normAutofit/>
          </a:bodyPr>
          <a:lstStyle/>
          <a:p>
            <a:pPr marL="0" indent="0" algn="l">
              <a:buNone/>
            </a:pPr>
            <a:r>
              <a:rPr lang="en-US" sz="1800" dirty="0">
                <a:solidFill>
                  <a:srgbClr val="8888A8"/>
                </a:solidFill>
                <a:latin typeface="-apple-system" pitchFamily="34" charset="0"/>
                <a:ea typeface="-apple-system" pitchFamily="34" charset="-122"/>
                <a:cs typeface="-apple-system" pitchFamily="34" charset="-120"/>
              </a:rPr>
              <a:t>SRE — health, SPOFs, remediations</a:t>
            </a:r>
            <a:endParaRPr lang="en-US" sz="1800" dirty="0"/>
          </a:p>
        </p:txBody>
      </p:sp>
      <p:sp>
        <p:nvSpPr>
          <p:cNvPr id="33" name="Shape 28"/>
          <p:cNvSpPr/>
          <p:nvPr/>
        </p:nvSpPr>
        <p:spPr>
          <a:xfrm>
            <a:off x="9647851" y="8839308"/>
            <a:ext cx="114192" cy="114192"/>
          </a:xfrm>
          <a:prstGeom prst="ellipse">
            <a:avLst/>
          </a:prstGeom>
          <a:solidFill>
            <a:srgbClr val="FBBF24"/>
          </a:solidFill>
          <a:ln/>
        </p:spPr>
        <p:txBody>
          <a:bodyPr/>
          <a:lstStyle/>
          <a:p>
            <a:endParaRPr lang="en-US"/>
          </a:p>
        </p:txBody>
      </p:sp>
      <p:sp>
        <p:nvSpPr>
          <p:cNvPr id="34" name="Text 29"/>
          <p:cNvSpPr/>
          <p:nvPr/>
        </p:nvSpPr>
        <p:spPr>
          <a:xfrm>
            <a:off x="9857293" y="8619313"/>
            <a:ext cx="3023634" cy="592282"/>
          </a:xfrm>
          <a:prstGeom prst="rect">
            <a:avLst/>
          </a:prstGeom>
          <a:noFill/>
          <a:ln/>
        </p:spPr>
        <p:txBody>
          <a:bodyPr wrap="square" lIns="25400" tIns="25400" rIns="25400" bIns="25400" rtlCol="0" anchor="t">
            <a:normAutofit/>
          </a:bodyPr>
          <a:lstStyle/>
          <a:p>
            <a:pPr marL="0" indent="0" algn="l">
              <a:buNone/>
            </a:pPr>
            <a:r>
              <a:rPr lang="en-US" sz="1800" dirty="0">
                <a:solidFill>
                  <a:srgbClr val="8888A8"/>
                </a:solidFill>
                <a:latin typeface="-apple-system" pitchFamily="34" charset="0"/>
                <a:ea typeface="-apple-system" pitchFamily="34" charset="-122"/>
                <a:cs typeface="-apple-system" pitchFamily="34" charset="-120"/>
              </a:rPr>
              <a:t>Auditor — compliance, evidence</a:t>
            </a:r>
            <a:endParaRPr lang="en-US" sz="1800" dirty="0"/>
          </a:p>
        </p:txBody>
      </p:sp>
      <p:sp>
        <p:nvSpPr>
          <p:cNvPr id="35" name="Shape 30"/>
          <p:cNvSpPr/>
          <p:nvPr/>
        </p:nvSpPr>
        <p:spPr>
          <a:xfrm>
            <a:off x="13411037" y="3168010"/>
            <a:ext cx="3924462" cy="6356990"/>
          </a:xfrm>
          <a:prstGeom prst="roundRect">
            <a:avLst>
              <a:gd name="adj" fmla="val 2913"/>
            </a:avLst>
          </a:prstGeom>
          <a:solidFill>
            <a:srgbClr val="111118"/>
          </a:solidFill>
          <a:ln w="8659">
            <a:solidFill>
              <a:srgbClr val="FFFFFF">
                <a:alpha val="6000"/>
              </a:srgbClr>
            </a:solidFill>
            <a:prstDash val="solid"/>
          </a:ln>
        </p:spPr>
        <p:txBody>
          <a:bodyPr/>
          <a:lstStyle/>
          <a:p>
            <a:endParaRPr lang="en-US"/>
          </a:p>
        </p:txBody>
      </p:sp>
      <p:sp>
        <p:nvSpPr>
          <p:cNvPr id="36" name="Shape 31"/>
          <p:cNvSpPr/>
          <p:nvPr/>
        </p:nvSpPr>
        <p:spPr>
          <a:xfrm>
            <a:off x="13800696" y="3519515"/>
            <a:ext cx="381000" cy="381000"/>
          </a:xfrm>
          <a:prstGeom prst="roundRect">
            <a:avLst>
              <a:gd name="adj" fmla="val 25000"/>
            </a:avLst>
          </a:prstGeom>
          <a:solidFill>
            <a:srgbClr val="7170FF">
              <a:alpha val="12000"/>
            </a:srgbClr>
          </a:solidFill>
          <a:ln w="8659">
            <a:solidFill>
              <a:srgbClr val="7170FF">
                <a:alpha val="30000"/>
              </a:srgbClr>
            </a:solidFill>
            <a:prstDash val="solid"/>
          </a:ln>
        </p:spPr>
        <p:txBody>
          <a:bodyPr/>
          <a:lstStyle/>
          <a:p>
            <a:endParaRPr lang="en-US"/>
          </a:p>
        </p:txBody>
      </p:sp>
      <p:pic>
        <p:nvPicPr>
          <p:cNvPr id="37" name="Image 3" descr="preencoded.png"/>
          <p:cNvPicPr>
            <a:picLocks noChangeAspect="1"/>
          </p:cNvPicPr>
          <p:nvPr/>
        </p:nvPicPr>
        <p:blipFill>
          <a:blip r:embed="rId6"/>
          <a:stretch>
            <a:fillRect/>
          </a:stretch>
        </p:blipFill>
        <p:spPr>
          <a:xfrm>
            <a:off x="13905418" y="3624235"/>
            <a:ext cx="171423" cy="171423"/>
          </a:xfrm>
          <a:prstGeom prst="rect">
            <a:avLst/>
          </a:prstGeom>
        </p:spPr>
      </p:pic>
      <p:sp>
        <p:nvSpPr>
          <p:cNvPr id="38" name="Text 32"/>
          <p:cNvSpPr/>
          <p:nvPr/>
        </p:nvSpPr>
        <p:spPr>
          <a:xfrm>
            <a:off x="14314965" y="3554151"/>
            <a:ext cx="1588700"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7170FF"/>
                </a:solidFill>
                <a:latin typeface="-apple-system" pitchFamily="34" charset="0"/>
                <a:ea typeface="-apple-system" pitchFamily="34" charset="-122"/>
                <a:cs typeface="-apple-system" pitchFamily="34" charset="-120"/>
              </a:rPr>
              <a:t>Deployment</a:t>
            </a:r>
            <a:endParaRPr lang="en-US" sz="2100" dirty="0"/>
          </a:p>
        </p:txBody>
      </p:sp>
      <p:sp>
        <p:nvSpPr>
          <p:cNvPr id="39" name="Text 33"/>
          <p:cNvSpPr/>
          <p:nvPr/>
        </p:nvSpPr>
        <p:spPr>
          <a:xfrm>
            <a:off x="13800696" y="4091015"/>
            <a:ext cx="3239498" cy="661555"/>
          </a:xfrm>
          <a:prstGeom prst="rect">
            <a:avLst/>
          </a:prstGeom>
          <a:noFill/>
          <a:ln/>
        </p:spPr>
        <p:txBody>
          <a:bodyPr wrap="square" lIns="25400" tIns="25400" rIns="25400" bIns="25400" rtlCol="0" anchor="t">
            <a:normAutofit/>
          </a:bodyPr>
          <a:lstStyle/>
          <a:p>
            <a:pPr marL="0" indent="0" algn="l">
              <a:buNone/>
            </a:pPr>
            <a:r>
              <a:rPr lang="en-US" sz="2100" b="1" dirty="0">
                <a:solidFill>
                  <a:srgbClr val="EDEDF8"/>
                </a:solidFill>
                <a:latin typeface="-apple-system" pitchFamily="34" charset="0"/>
                <a:ea typeface="-apple-system" pitchFamily="34" charset="-122"/>
                <a:cs typeface="-apple-system" pitchFamily="34" charset="-120"/>
              </a:rPr>
              <a:t>Data never leaves your network</a:t>
            </a:r>
            <a:endParaRPr lang="en-US" sz="2100" dirty="0"/>
          </a:p>
        </p:txBody>
      </p:sp>
      <p:sp>
        <p:nvSpPr>
          <p:cNvPr id="40" name="Text 34"/>
          <p:cNvSpPr/>
          <p:nvPr/>
        </p:nvSpPr>
        <p:spPr>
          <a:xfrm>
            <a:off x="13800696" y="4904969"/>
            <a:ext cx="3239498" cy="3333560"/>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8888A8"/>
                </a:solidFill>
                <a:latin typeface="-apple-system" pitchFamily="34" charset="0"/>
                <a:ea typeface="-apple-system" pitchFamily="34" charset="-122"/>
                <a:cs typeface="-apple-system" pitchFamily="34" charset="-120"/>
              </a:rPr>
              <a:t>Self-hosted first — K8s-native via Helm + ArgoCD. SaaS multi-tenant in Phase 3. 13 connectors shipping: K8s, GitHub, Datadog, ArgoCD, Kafka, AWS, ServiceNow and more.</a:t>
            </a:r>
            <a:endParaRPr lang="en-US" sz="1950" dirty="0"/>
          </a:p>
        </p:txBody>
      </p:sp>
      <p:sp>
        <p:nvSpPr>
          <p:cNvPr id="41" name="Shape 35"/>
          <p:cNvSpPr/>
          <p:nvPr/>
        </p:nvSpPr>
        <p:spPr>
          <a:xfrm>
            <a:off x="13800696" y="8390929"/>
            <a:ext cx="3145144" cy="782565"/>
          </a:xfrm>
          <a:prstGeom prst="roundRect">
            <a:avLst>
              <a:gd name="adj" fmla="val 9737"/>
            </a:avLst>
          </a:prstGeom>
          <a:solidFill>
            <a:srgbClr val="7170FF">
              <a:alpha val="8000"/>
            </a:srgbClr>
          </a:solidFill>
          <a:ln w="8659">
            <a:solidFill>
              <a:srgbClr val="7170FF">
                <a:alpha val="20000"/>
              </a:srgbClr>
            </a:solidFill>
            <a:prstDash val="solid"/>
          </a:ln>
        </p:spPr>
        <p:txBody>
          <a:bodyPr/>
          <a:lstStyle/>
          <a:p>
            <a:endParaRPr lang="en-US"/>
          </a:p>
        </p:txBody>
      </p:sp>
      <p:sp>
        <p:nvSpPr>
          <p:cNvPr id="42" name="Text 36"/>
          <p:cNvSpPr/>
          <p:nvPr/>
        </p:nvSpPr>
        <p:spPr>
          <a:xfrm>
            <a:off x="13961755" y="8513888"/>
            <a:ext cx="2917380" cy="574747"/>
          </a:xfrm>
          <a:prstGeom prst="rect">
            <a:avLst/>
          </a:prstGeom>
          <a:noFill/>
          <a:ln/>
        </p:spPr>
        <p:txBody>
          <a:bodyPr wrap="square" lIns="25400" tIns="25400" rIns="25400" bIns="25400" rtlCol="0" anchor="t">
            <a:normAutofit/>
          </a:bodyPr>
          <a:lstStyle/>
          <a:p>
            <a:pPr marL="0" indent="0" algn="l">
              <a:buNone/>
            </a:pPr>
            <a:r>
              <a:rPr lang="en-US" sz="1800" dirty="0">
                <a:solidFill>
                  <a:srgbClr val="7170FF"/>
                </a:solidFill>
                <a:latin typeface="Arial" pitchFamily="34" charset="0"/>
                <a:ea typeface="Arial" pitchFamily="34" charset="-122"/>
                <a:cs typeface="Arial" pitchFamily="34" charset="-120"/>
              </a:rPr>
              <a:t>13 connectors · EKS-native · Helm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09090F"/>
          </a:solidFill>
          <a:ln/>
        </p:spPr>
        <p:txBody>
          <a:bodyPr/>
          <a:lstStyle/>
          <a:p>
            <a:endParaRPr lang="en-US"/>
          </a:p>
        </p:txBody>
      </p:sp>
      <p:sp>
        <p:nvSpPr>
          <p:cNvPr id="3" name="Shape 1"/>
          <p:cNvSpPr/>
          <p:nvPr/>
        </p:nvSpPr>
        <p:spPr>
          <a:xfrm>
            <a:off x="0" y="0"/>
            <a:ext cx="18287999" cy="10287000"/>
          </a:xfrm>
          <a:prstGeom prst="rect">
            <a:avLst/>
          </a:prstGeom>
          <a:solidFill>
            <a:srgbClr val="FFFFFF">
              <a:alpha val="3000"/>
            </a:srgbClr>
          </a:solidFill>
          <a:ln/>
        </p:spPr>
        <p:txBody>
          <a:bodyPr/>
          <a:lstStyle/>
          <a:p>
            <a:endParaRPr lang="en-US"/>
          </a:p>
        </p:txBody>
      </p:sp>
      <p:sp>
        <p:nvSpPr>
          <p:cNvPr id="4" name="Shape 2"/>
          <p:cNvSpPr/>
          <p:nvPr/>
        </p:nvSpPr>
        <p:spPr>
          <a:xfrm>
            <a:off x="0" y="0"/>
            <a:ext cx="18287999" cy="10287000"/>
          </a:xfrm>
          <a:prstGeom prst="rect">
            <a:avLst/>
          </a:prstGeom>
          <a:solidFill>
            <a:srgbClr val="5E6AD2">
              <a:alpha val="7000"/>
            </a:srgbClr>
          </a:solidFill>
          <a:ln/>
        </p:spPr>
        <p:txBody>
          <a:bodyPr/>
          <a:lstStyle/>
          <a:p>
            <a:endParaRPr lang="en-US"/>
          </a:p>
        </p:txBody>
      </p:sp>
      <p:sp>
        <p:nvSpPr>
          <p:cNvPr id="5" name="Shape 3"/>
          <p:cNvSpPr/>
          <p:nvPr/>
        </p:nvSpPr>
        <p:spPr>
          <a:xfrm>
            <a:off x="0" y="0"/>
            <a:ext cx="18287999" cy="10287000"/>
          </a:xfrm>
          <a:prstGeom prst="rect">
            <a:avLst/>
          </a:prstGeom>
          <a:solidFill>
            <a:srgbClr val="22D3EE">
              <a:alpha val="4000"/>
            </a:srgbClr>
          </a:solidFill>
          <a:ln/>
        </p:spPr>
        <p:txBody>
          <a:bodyPr/>
          <a:lstStyle/>
          <a:p>
            <a:endParaRPr lang="en-US"/>
          </a:p>
        </p:txBody>
      </p:sp>
      <p:sp>
        <p:nvSpPr>
          <p:cNvPr id="6" name="Text 4"/>
          <p:cNvSpPr/>
          <p:nvPr/>
        </p:nvSpPr>
        <p:spPr>
          <a:xfrm>
            <a:off x="952500" y="857250"/>
            <a:ext cx="6134506"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DEPLOYMENT · INFRASTRUCTURE</a:t>
            </a:r>
            <a:endParaRPr lang="en-US" sz="1800" dirty="0"/>
          </a:p>
        </p:txBody>
      </p:sp>
      <p:sp>
        <p:nvSpPr>
          <p:cNvPr id="7" name="Text 5"/>
          <p:cNvSpPr/>
          <p:nvPr/>
        </p:nvSpPr>
        <p:spPr>
          <a:xfrm>
            <a:off x="952500" y="1331741"/>
            <a:ext cx="6134506" cy="1379177"/>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120" dirty="0">
                <a:solidFill>
                  <a:srgbClr val="EDEDF8"/>
                </a:solidFill>
                <a:latin typeface="Arial" pitchFamily="34" charset="0"/>
                <a:ea typeface="Arial" pitchFamily="34" charset="-122"/>
                <a:cs typeface="Arial" pitchFamily="34" charset="-120"/>
              </a:rPr>
              <a:t>Deploy anywhere. Your data stays yours.</a:t>
            </a:r>
            <a:endParaRPr lang="en-US" sz="4800" dirty="0"/>
          </a:p>
        </p:txBody>
      </p:sp>
      <p:sp>
        <p:nvSpPr>
          <p:cNvPr id="8" name="Shape 6"/>
          <p:cNvSpPr/>
          <p:nvPr/>
        </p:nvSpPr>
        <p:spPr>
          <a:xfrm>
            <a:off x="14081710" y="2238240"/>
            <a:ext cx="1994703" cy="434578"/>
          </a:xfrm>
          <a:prstGeom prst="roundRect">
            <a:avLst>
              <a:gd name="adj" fmla="val 50000"/>
            </a:avLst>
          </a:prstGeom>
          <a:solidFill>
            <a:srgbClr val="5E6AD2">
              <a:alpha val="10000"/>
            </a:srgbClr>
          </a:solidFill>
          <a:ln w="8659">
            <a:solidFill>
              <a:srgbClr val="5E6AD2">
                <a:alpha val="40000"/>
              </a:srgbClr>
            </a:solidFill>
            <a:prstDash val="solid"/>
          </a:ln>
        </p:spPr>
        <p:txBody>
          <a:bodyPr/>
          <a:lstStyle/>
          <a:p>
            <a:endParaRPr lang="en-US"/>
          </a:p>
        </p:txBody>
      </p:sp>
      <p:sp>
        <p:nvSpPr>
          <p:cNvPr id="9" name="Text 7"/>
          <p:cNvSpPr/>
          <p:nvPr/>
        </p:nvSpPr>
        <p:spPr>
          <a:xfrm>
            <a:off x="14261819" y="2304049"/>
            <a:ext cx="1710684" cy="34106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7170FF"/>
                </a:solidFill>
                <a:latin typeface="Arial" pitchFamily="34" charset="0"/>
                <a:ea typeface="Arial" pitchFamily="34" charset="-122"/>
                <a:cs typeface="Arial" pitchFamily="34" charset="-120"/>
              </a:rPr>
              <a:t>Self-Hosted</a:t>
            </a:r>
            <a:endParaRPr lang="en-US" sz="1800" dirty="0"/>
          </a:p>
        </p:txBody>
      </p:sp>
      <p:sp>
        <p:nvSpPr>
          <p:cNvPr id="10" name="Text 8"/>
          <p:cNvSpPr/>
          <p:nvPr/>
        </p:nvSpPr>
        <p:spPr>
          <a:xfrm>
            <a:off x="16190605" y="2321313"/>
            <a:ext cx="152373"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16380970" y="2238240"/>
            <a:ext cx="954529" cy="434578"/>
          </a:xfrm>
          <a:prstGeom prst="roundRect">
            <a:avLst>
              <a:gd name="adj" fmla="val 50000"/>
            </a:avLst>
          </a:prstGeom>
          <a:solidFill>
            <a:srgbClr val="22D3EE">
              <a:alpha val="8000"/>
            </a:srgbClr>
          </a:solidFill>
          <a:ln w="8659">
            <a:solidFill>
              <a:srgbClr val="22D3EE">
                <a:alpha val="30000"/>
              </a:srgbClr>
            </a:solidFill>
            <a:prstDash val="solid"/>
          </a:ln>
        </p:spPr>
        <p:txBody>
          <a:bodyPr/>
          <a:lstStyle/>
          <a:p>
            <a:endParaRPr lang="en-US"/>
          </a:p>
        </p:txBody>
      </p:sp>
      <p:sp>
        <p:nvSpPr>
          <p:cNvPr id="12" name="Text 10"/>
          <p:cNvSpPr/>
          <p:nvPr/>
        </p:nvSpPr>
        <p:spPr>
          <a:xfrm>
            <a:off x="16561079" y="2304049"/>
            <a:ext cx="670511" cy="34106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22D3EE"/>
                </a:solidFill>
                <a:latin typeface="Arial" pitchFamily="34" charset="0"/>
                <a:ea typeface="Arial" pitchFamily="34" charset="-122"/>
                <a:cs typeface="Arial" pitchFamily="34" charset="-120"/>
              </a:rPr>
              <a:t>SaaS</a:t>
            </a:r>
            <a:endParaRPr lang="en-US" sz="1800" dirty="0"/>
          </a:p>
        </p:txBody>
      </p:sp>
      <p:sp>
        <p:nvSpPr>
          <p:cNvPr id="13" name="Shape 11"/>
          <p:cNvSpPr/>
          <p:nvPr/>
        </p:nvSpPr>
        <p:spPr>
          <a:xfrm>
            <a:off x="952500" y="3091837"/>
            <a:ext cx="5283128" cy="8578723"/>
          </a:xfrm>
          <a:prstGeom prst="roundRect">
            <a:avLst>
              <a:gd name="adj" fmla="val 2163"/>
            </a:avLst>
          </a:prstGeom>
          <a:solidFill>
            <a:srgbClr val="111118"/>
          </a:solidFill>
          <a:ln w="8659">
            <a:solidFill>
              <a:srgbClr val="5E6AD2">
                <a:alpha val="35000"/>
              </a:srgbClr>
            </a:solidFill>
            <a:prstDash val="solid"/>
          </a:ln>
          <a:effectLst>
            <a:outerShdw blurRad="228600" dist="50800" dir="16200000" algn="bl" rotWithShape="0">
              <a:srgbClr val="5E6AD2">
                <a:alpha val="10000"/>
              </a:srgbClr>
            </a:outerShdw>
          </a:effectLst>
        </p:spPr>
        <p:txBody>
          <a:bodyPr/>
          <a:lstStyle/>
          <a:p>
            <a:endParaRPr lang="en-US"/>
          </a:p>
        </p:txBody>
      </p:sp>
      <p:sp>
        <p:nvSpPr>
          <p:cNvPr id="14" name="Shape 12"/>
          <p:cNvSpPr/>
          <p:nvPr/>
        </p:nvSpPr>
        <p:spPr>
          <a:xfrm>
            <a:off x="1227832" y="3495296"/>
            <a:ext cx="361923" cy="361923"/>
          </a:xfrm>
          <a:prstGeom prst="roundRect">
            <a:avLst>
              <a:gd name="adj" fmla="val 23686"/>
            </a:avLst>
          </a:prstGeom>
          <a:solidFill>
            <a:srgbClr val="5E6AD2">
              <a:alpha val="12000"/>
            </a:srgbClr>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1323082" y="3590546"/>
            <a:ext cx="171423" cy="171423"/>
          </a:xfrm>
          <a:prstGeom prst="rect">
            <a:avLst/>
          </a:prstGeom>
        </p:spPr>
      </p:pic>
      <p:sp>
        <p:nvSpPr>
          <p:cNvPr id="16" name="Text 13"/>
          <p:cNvSpPr/>
          <p:nvPr/>
        </p:nvSpPr>
        <p:spPr>
          <a:xfrm>
            <a:off x="1723024" y="3386246"/>
            <a:ext cx="2506563"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7170FF"/>
                </a:solidFill>
                <a:latin typeface="-apple-system" pitchFamily="34" charset="0"/>
                <a:ea typeface="-apple-system" pitchFamily="34" charset="-122"/>
                <a:cs typeface="-apple-system" pitchFamily="34" charset="-120"/>
              </a:rPr>
              <a:t>Self-Hosted</a:t>
            </a:r>
            <a:endParaRPr lang="en-US" sz="2100" dirty="0"/>
          </a:p>
        </p:txBody>
      </p:sp>
      <p:sp>
        <p:nvSpPr>
          <p:cNvPr id="17" name="Text 14"/>
          <p:cNvSpPr/>
          <p:nvPr/>
        </p:nvSpPr>
        <p:spPr>
          <a:xfrm>
            <a:off x="1723024" y="3697973"/>
            <a:ext cx="2506563"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AWS · Azure · On-Prem</a:t>
            </a:r>
            <a:endParaRPr lang="en-US" sz="1800" dirty="0"/>
          </a:p>
        </p:txBody>
      </p:sp>
      <p:sp>
        <p:nvSpPr>
          <p:cNvPr id="18" name="Shape 15"/>
          <p:cNvSpPr/>
          <p:nvPr/>
        </p:nvSpPr>
        <p:spPr>
          <a:xfrm>
            <a:off x="1227832" y="4175847"/>
            <a:ext cx="4732464" cy="9525"/>
          </a:xfrm>
          <a:prstGeom prst="rect">
            <a:avLst/>
          </a:prstGeom>
          <a:solidFill>
            <a:srgbClr val="FFFFFF">
              <a:alpha val="6000"/>
            </a:srgbClr>
          </a:solidFill>
          <a:ln/>
        </p:spPr>
        <p:txBody>
          <a:bodyPr/>
          <a:lstStyle/>
          <a:p>
            <a:endParaRPr lang="en-US"/>
          </a:p>
        </p:txBody>
      </p:sp>
      <p:sp>
        <p:nvSpPr>
          <p:cNvPr id="19" name="Shape 16"/>
          <p:cNvSpPr/>
          <p:nvPr/>
        </p:nvSpPr>
        <p:spPr>
          <a:xfrm>
            <a:off x="1227832" y="4356740"/>
            <a:ext cx="4732464" cy="522793"/>
          </a:xfrm>
          <a:prstGeom prst="roundRect">
            <a:avLst>
              <a:gd name="adj" fmla="val 14576"/>
            </a:avLst>
          </a:prstGeom>
          <a:solidFill>
            <a:srgbClr val="16161F"/>
          </a:solidFill>
          <a:ln/>
        </p:spPr>
        <p:txBody>
          <a:bodyPr/>
          <a:lstStyle/>
          <a:p>
            <a:endParaRPr lang="en-US"/>
          </a:p>
        </p:txBody>
      </p:sp>
      <p:sp>
        <p:nvSpPr>
          <p:cNvPr id="20" name="Text 17"/>
          <p:cNvSpPr/>
          <p:nvPr/>
        </p:nvSpPr>
        <p:spPr>
          <a:xfrm>
            <a:off x="1380178" y="4470932"/>
            <a:ext cx="1381964"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API Servers</a:t>
            </a:r>
            <a:endParaRPr lang="en-US" sz="1950" dirty="0"/>
          </a:p>
        </p:txBody>
      </p:sp>
      <p:sp>
        <p:nvSpPr>
          <p:cNvPr id="21" name="Text 18"/>
          <p:cNvSpPr/>
          <p:nvPr/>
        </p:nvSpPr>
        <p:spPr>
          <a:xfrm>
            <a:off x="4696068" y="4483921"/>
            <a:ext cx="1188081"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×3 replicas</a:t>
            </a:r>
            <a:endParaRPr lang="en-US" sz="1800" dirty="0"/>
          </a:p>
        </p:txBody>
      </p:sp>
      <p:sp>
        <p:nvSpPr>
          <p:cNvPr id="22" name="Shape 19"/>
          <p:cNvSpPr/>
          <p:nvPr/>
        </p:nvSpPr>
        <p:spPr>
          <a:xfrm>
            <a:off x="1227832" y="4993725"/>
            <a:ext cx="4732464" cy="522793"/>
          </a:xfrm>
          <a:prstGeom prst="roundRect">
            <a:avLst>
              <a:gd name="adj" fmla="val 14576"/>
            </a:avLst>
          </a:prstGeom>
          <a:solidFill>
            <a:srgbClr val="16161F"/>
          </a:solidFill>
          <a:ln/>
        </p:spPr>
        <p:txBody>
          <a:bodyPr/>
          <a:lstStyle/>
          <a:p>
            <a:endParaRPr lang="en-US"/>
          </a:p>
        </p:txBody>
      </p:sp>
      <p:sp>
        <p:nvSpPr>
          <p:cNvPr id="23" name="Text 20"/>
          <p:cNvSpPr/>
          <p:nvPr/>
        </p:nvSpPr>
        <p:spPr>
          <a:xfrm>
            <a:off x="1380178" y="5107916"/>
            <a:ext cx="1092425"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Frontend</a:t>
            </a:r>
            <a:endParaRPr lang="en-US" sz="1950" dirty="0"/>
          </a:p>
        </p:txBody>
      </p:sp>
      <p:sp>
        <p:nvSpPr>
          <p:cNvPr id="24" name="Text 21"/>
          <p:cNvSpPr/>
          <p:nvPr/>
        </p:nvSpPr>
        <p:spPr>
          <a:xfrm>
            <a:off x="4696068" y="5120905"/>
            <a:ext cx="1188081"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×2 replicas</a:t>
            </a:r>
            <a:endParaRPr lang="en-US" sz="1800" dirty="0"/>
          </a:p>
        </p:txBody>
      </p:sp>
      <p:sp>
        <p:nvSpPr>
          <p:cNvPr id="25" name="Shape 22"/>
          <p:cNvSpPr/>
          <p:nvPr/>
        </p:nvSpPr>
        <p:spPr>
          <a:xfrm>
            <a:off x="1227832" y="5630709"/>
            <a:ext cx="4732464" cy="522793"/>
          </a:xfrm>
          <a:prstGeom prst="roundRect">
            <a:avLst>
              <a:gd name="adj" fmla="val 14576"/>
            </a:avLst>
          </a:prstGeom>
          <a:solidFill>
            <a:srgbClr val="16161F"/>
          </a:solidFill>
          <a:ln/>
        </p:spPr>
        <p:txBody>
          <a:bodyPr/>
          <a:lstStyle/>
          <a:p>
            <a:endParaRPr lang="en-US"/>
          </a:p>
        </p:txBody>
      </p:sp>
      <p:sp>
        <p:nvSpPr>
          <p:cNvPr id="26" name="Text 23"/>
          <p:cNvSpPr/>
          <p:nvPr/>
        </p:nvSpPr>
        <p:spPr>
          <a:xfrm>
            <a:off x="1380178" y="5744901"/>
            <a:ext cx="753233"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Neo4j</a:t>
            </a:r>
            <a:endParaRPr lang="en-US" sz="1950" dirty="0"/>
          </a:p>
        </p:txBody>
      </p:sp>
      <p:sp>
        <p:nvSpPr>
          <p:cNvPr id="27" name="Text 24"/>
          <p:cNvSpPr/>
          <p:nvPr/>
        </p:nvSpPr>
        <p:spPr>
          <a:xfrm>
            <a:off x="3609894" y="5757889"/>
            <a:ext cx="2274256"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r5.2xl · DB-per-tenant</a:t>
            </a:r>
            <a:endParaRPr lang="en-US" sz="1800" dirty="0"/>
          </a:p>
        </p:txBody>
      </p:sp>
      <p:sp>
        <p:nvSpPr>
          <p:cNvPr id="28" name="Shape 25"/>
          <p:cNvSpPr/>
          <p:nvPr/>
        </p:nvSpPr>
        <p:spPr>
          <a:xfrm>
            <a:off x="1227832" y="6267694"/>
            <a:ext cx="4732464" cy="522793"/>
          </a:xfrm>
          <a:prstGeom prst="roundRect">
            <a:avLst>
              <a:gd name="adj" fmla="val 14576"/>
            </a:avLst>
          </a:prstGeom>
          <a:solidFill>
            <a:srgbClr val="16161F"/>
          </a:solidFill>
          <a:ln/>
        </p:spPr>
        <p:txBody>
          <a:bodyPr/>
          <a:lstStyle/>
          <a:p>
            <a:endParaRPr lang="en-US"/>
          </a:p>
        </p:txBody>
      </p:sp>
      <p:sp>
        <p:nvSpPr>
          <p:cNvPr id="29" name="Text 26"/>
          <p:cNvSpPr/>
          <p:nvPr/>
        </p:nvSpPr>
        <p:spPr>
          <a:xfrm>
            <a:off x="1380178" y="6381885"/>
            <a:ext cx="900031"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Redis 7</a:t>
            </a:r>
            <a:endParaRPr lang="en-US" sz="1950" dirty="0"/>
          </a:p>
        </p:txBody>
      </p:sp>
      <p:sp>
        <p:nvSpPr>
          <p:cNvPr id="30" name="Text 27"/>
          <p:cNvSpPr/>
          <p:nvPr/>
        </p:nvSpPr>
        <p:spPr>
          <a:xfrm>
            <a:off x="4359040" y="6394874"/>
            <a:ext cx="1525109"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cache · queue</a:t>
            </a:r>
            <a:endParaRPr lang="en-US" sz="1800" dirty="0"/>
          </a:p>
        </p:txBody>
      </p:sp>
      <p:sp>
        <p:nvSpPr>
          <p:cNvPr id="31" name="Shape 28"/>
          <p:cNvSpPr/>
          <p:nvPr/>
        </p:nvSpPr>
        <p:spPr>
          <a:xfrm>
            <a:off x="1227832" y="6904677"/>
            <a:ext cx="4732464" cy="522793"/>
          </a:xfrm>
          <a:prstGeom prst="roundRect">
            <a:avLst>
              <a:gd name="adj" fmla="val 14576"/>
            </a:avLst>
          </a:prstGeom>
          <a:solidFill>
            <a:srgbClr val="16161F"/>
          </a:solidFill>
          <a:ln/>
        </p:spPr>
        <p:txBody>
          <a:bodyPr/>
          <a:lstStyle/>
          <a:p>
            <a:endParaRPr lang="en-US"/>
          </a:p>
        </p:txBody>
      </p:sp>
      <p:sp>
        <p:nvSpPr>
          <p:cNvPr id="32" name="Text 29"/>
          <p:cNvSpPr/>
          <p:nvPr/>
        </p:nvSpPr>
        <p:spPr>
          <a:xfrm>
            <a:off x="1380178" y="7018869"/>
            <a:ext cx="1362751"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Vault / KMS</a:t>
            </a:r>
            <a:endParaRPr lang="en-US" sz="1950" dirty="0"/>
          </a:p>
        </p:txBody>
      </p:sp>
      <p:sp>
        <p:nvSpPr>
          <p:cNvPr id="33" name="Text 30"/>
          <p:cNvSpPr/>
          <p:nvPr/>
        </p:nvSpPr>
        <p:spPr>
          <a:xfrm>
            <a:off x="4372300" y="7031858"/>
            <a:ext cx="1511850"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BYOK secrets</a:t>
            </a:r>
            <a:endParaRPr lang="en-US" sz="1800" dirty="0"/>
          </a:p>
        </p:txBody>
      </p:sp>
      <p:sp>
        <p:nvSpPr>
          <p:cNvPr id="34" name="Shape 31"/>
          <p:cNvSpPr/>
          <p:nvPr/>
        </p:nvSpPr>
        <p:spPr>
          <a:xfrm>
            <a:off x="1227832" y="7598893"/>
            <a:ext cx="4732464" cy="9525"/>
          </a:xfrm>
          <a:prstGeom prst="rect">
            <a:avLst/>
          </a:prstGeom>
          <a:solidFill>
            <a:srgbClr val="FFFFFF">
              <a:alpha val="6000"/>
            </a:srgbClr>
          </a:solidFill>
          <a:ln/>
        </p:spPr>
        <p:txBody>
          <a:bodyPr/>
          <a:lstStyle/>
          <a:p>
            <a:endParaRPr lang="en-US"/>
          </a:p>
        </p:txBody>
      </p:sp>
      <p:sp>
        <p:nvSpPr>
          <p:cNvPr id="35" name="Shape 32"/>
          <p:cNvSpPr/>
          <p:nvPr/>
        </p:nvSpPr>
        <p:spPr>
          <a:xfrm>
            <a:off x="1227832" y="7779787"/>
            <a:ext cx="800019" cy="363682"/>
          </a:xfrm>
          <a:prstGeom prst="roundRect">
            <a:avLst>
              <a:gd name="adj" fmla="val 50000"/>
            </a:avLst>
          </a:prstGeom>
          <a:solidFill>
            <a:srgbClr val="5E6AD2">
              <a:alpha val="12000"/>
            </a:srgbClr>
          </a:solidFill>
          <a:ln/>
        </p:spPr>
        <p:txBody>
          <a:bodyPr/>
          <a:lstStyle/>
          <a:p>
            <a:endParaRPr lang="en-US"/>
          </a:p>
        </p:txBody>
      </p:sp>
      <p:sp>
        <p:nvSpPr>
          <p:cNvPr id="36" name="Text 33"/>
          <p:cNvSpPr/>
          <p:nvPr/>
        </p:nvSpPr>
        <p:spPr>
          <a:xfrm>
            <a:off x="1361182" y="7827412"/>
            <a:ext cx="609519" cy="306532"/>
          </a:xfrm>
          <a:prstGeom prst="rect">
            <a:avLst/>
          </a:prstGeom>
          <a:noFill/>
          <a:ln/>
        </p:spPr>
        <p:txBody>
          <a:bodyPr wrap="square" lIns="25400" tIns="25400" rIns="25400" bIns="25400" rtlCol="0" anchor="t">
            <a:normAutofit/>
          </a:bodyPr>
          <a:lstStyle/>
          <a:p>
            <a:pPr marL="0" indent="0" algn="l">
              <a:buNone/>
            </a:pPr>
            <a:r>
              <a:rPr lang="en-US" sz="1800" dirty="0">
                <a:solidFill>
                  <a:srgbClr val="7170FF"/>
                </a:solidFill>
                <a:latin typeface="Arial" pitchFamily="34" charset="0"/>
                <a:ea typeface="Arial" pitchFamily="34" charset="-122"/>
                <a:cs typeface="Arial" pitchFamily="34" charset="-120"/>
              </a:rPr>
              <a:t>Helm</a:t>
            </a:r>
            <a:endParaRPr lang="en-US" sz="1800" dirty="0"/>
          </a:p>
        </p:txBody>
      </p:sp>
      <p:sp>
        <p:nvSpPr>
          <p:cNvPr id="37" name="Shape 34"/>
          <p:cNvSpPr/>
          <p:nvPr/>
        </p:nvSpPr>
        <p:spPr>
          <a:xfrm>
            <a:off x="2123101" y="7779787"/>
            <a:ext cx="1079680" cy="363682"/>
          </a:xfrm>
          <a:prstGeom prst="roundRect">
            <a:avLst>
              <a:gd name="adj" fmla="val 50000"/>
            </a:avLst>
          </a:prstGeom>
          <a:solidFill>
            <a:srgbClr val="5E6AD2">
              <a:alpha val="12000"/>
            </a:srgbClr>
          </a:solidFill>
          <a:ln/>
        </p:spPr>
        <p:txBody>
          <a:bodyPr/>
          <a:lstStyle/>
          <a:p>
            <a:endParaRPr lang="en-US"/>
          </a:p>
        </p:txBody>
      </p:sp>
      <p:sp>
        <p:nvSpPr>
          <p:cNvPr id="38" name="Text 35"/>
          <p:cNvSpPr/>
          <p:nvPr/>
        </p:nvSpPr>
        <p:spPr>
          <a:xfrm>
            <a:off x="2256451" y="7827412"/>
            <a:ext cx="889180" cy="306532"/>
          </a:xfrm>
          <a:prstGeom prst="rect">
            <a:avLst/>
          </a:prstGeom>
          <a:noFill/>
          <a:ln/>
        </p:spPr>
        <p:txBody>
          <a:bodyPr wrap="square" lIns="25400" tIns="25400" rIns="25400" bIns="25400" rtlCol="0" anchor="t">
            <a:normAutofit/>
          </a:bodyPr>
          <a:lstStyle/>
          <a:p>
            <a:pPr marL="0" indent="0" algn="l">
              <a:buNone/>
            </a:pPr>
            <a:r>
              <a:rPr lang="en-US" sz="1800" dirty="0">
                <a:solidFill>
                  <a:srgbClr val="7170FF"/>
                </a:solidFill>
                <a:latin typeface="Arial" pitchFamily="34" charset="0"/>
                <a:ea typeface="Arial" pitchFamily="34" charset="-122"/>
                <a:cs typeface="Arial" pitchFamily="34" charset="-120"/>
              </a:rPr>
              <a:t>ArgoCD</a:t>
            </a:r>
            <a:endParaRPr lang="en-US" sz="1800" dirty="0"/>
          </a:p>
        </p:txBody>
      </p:sp>
      <p:sp>
        <p:nvSpPr>
          <p:cNvPr id="39" name="Shape 36"/>
          <p:cNvSpPr/>
          <p:nvPr/>
        </p:nvSpPr>
        <p:spPr>
          <a:xfrm>
            <a:off x="3298031" y="7779787"/>
            <a:ext cx="1931248" cy="363682"/>
          </a:xfrm>
          <a:prstGeom prst="roundRect">
            <a:avLst>
              <a:gd name="adj" fmla="val 50000"/>
            </a:avLst>
          </a:prstGeom>
          <a:solidFill>
            <a:srgbClr val="5E6AD2">
              <a:alpha val="12000"/>
            </a:srgbClr>
          </a:solidFill>
          <a:ln/>
        </p:spPr>
        <p:txBody>
          <a:bodyPr/>
          <a:lstStyle/>
          <a:p>
            <a:endParaRPr lang="en-US"/>
          </a:p>
        </p:txBody>
      </p:sp>
      <p:sp>
        <p:nvSpPr>
          <p:cNvPr id="40" name="Text 37"/>
          <p:cNvSpPr/>
          <p:nvPr/>
        </p:nvSpPr>
        <p:spPr>
          <a:xfrm>
            <a:off x="3431381" y="7827412"/>
            <a:ext cx="1740748" cy="306532"/>
          </a:xfrm>
          <a:prstGeom prst="rect">
            <a:avLst/>
          </a:prstGeom>
          <a:noFill/>
          <a:ln/>
        </p:spPr>
        <p:txBody>
          <a:bodyPr wrap="square" lIns="25400" tIns="25400" rIns="25400" bIns="25400" rtlCol="0" anchor="t">
            <a:normAutofit/>
          </a:bodyPr>
          <a:lstStyle/>
          <a:p>
            <a:pPr marL="0" indent="0" algn="l">
              <a:buNone/>
            </a:pPr>
            <a:r>
              <a:rPr lang="en-US" sz="1800" dirty="0">
                <a:solidFill>
                  <a:srgbClr val="7170FF"/>
                </a:solidFill>
                <a:latin typeface="Arial" pitchFamily="34" charset="0"/>
                <a:ea typeface="Arial" pitchFamily="34" charset="-122"/>
                <a:cs typeface="Arial" pitchFamily="34" charset="-120"/>
              </a:rPr>
              <a:t>EKS / OpenShift</a:t>
            </a:r>
            <a:endParaRPr lang="en-US" sz="1800" dirty="0"/>
          </a:p>
        </p:txBody>
      </p:sp>
      <p:sp>
        <p:nvSpPr>
          <p:cNvPr id="41" name="Shape 38"/>
          <p:cNvSpPr/>
          <p:nvPr/>
        </p:nvSpPr>
        <p:spPr>
          <a:xfrm>
            <a:off x="1227832" y="10815204"/>
            <a:ext cx="4732464" cy="560947"/>
          </a:xfrm>
          <a:prstGeom prst="roundRect">
            <a:avLst>
              <a:gd name="adj" fmla="val 13584"/>
            </a:avLst>
          </a:prstGeom>
          <a:solidFill>
            <a:srgbClr val="34D399">
              <a:alpha val="7000"/>
            </a:srgbClr>
          </a:solidFill>
          <a:ln w="8659">
            <a:solidFill>
              <a:srgbClr val="34D399">
                <a:alpha val="20000"/>
              </a:srgbClr>
            </a:solidFill>
            <a:prstDash val="solid"/>
          </a:ln>
        </p:spPr>
        <p:txBody>
          <a:bodyPr/>
          <a:lstStyle/>
          <a:p>
            <a:endParaRPr lang="en-US"/>
          </a:p>
        </p:txBody>
      </p:sp>
      <p:sp>
        <p:nvSpPr>
          <p:cNvPr id="42" name="Text 39"/>
          <p:cNvSpPr/>
          <p:nvPr/>
        </p:nvSpPr>
        <p:spPr>
          <a:xfrm>
            <a:off x="1407941" y="10957213"/>
            <a:ext cx="4514219" cy="315029"/>
          </a:xfrm>
          <a:prstGeom prst="rect">
            <a:avLst/>
          </a:prstGeom>
          <a:noFill/>
          <a:ln/>
        </p:spPr>
        <p:txBody>
          <a:bodyPr wrap="square" lIns="25400" tIns="25400" rIns="25400" bIns="25400" rtlCol="0" anchor="t">
            <a:normAutofit/>
          </a:bodyPr>
          <a:lstStyle/>
          <a:p>
            <a:pPr marL="0" indent="0" algn="l">
              <a:buNone/>
            </a:pPr>
            <a:r>
              <a:rPr lang="en-US" sz="1800" dirty="0">
                <a:solidFill>
                  <a:srgbClr val="34D399"/>
                </a:solidFill>
                <a:latin typeface="Arial" pitchFamily="34" charset="0"/>
                <a:ea typeface="Arial" pitchFamily="34" charset="-122"/>
                <a:cs typeface="Arial" pitchFamily="34" charset="-120"/>
              </a:rPr>
              <a:t>◆ Data never leaves your network</a:t>
            </a:r>
            <a:endParaRPr lang="en-US" sz="1800" dirty="0"/>
          </a:p>
        </p:txBody>
      </p:sp>
      <p:sp>
        <p:nvSpPr>
          <p:cNvPr id="43" name="Shape 40"/>
          <p:cNvSpPr/>
          <p:nvPr/>
        </p:nvSpPr>
        <p:spPr>
          <a:xfrm>
            <a:off x="6502301" y="3091837"/>
            <a:ext cx="5283263" cy="8578723"/>
          </a:xfrm>
          <a:prstGeom prst="roundRect">
            <a:avLst>
              <a:gd name="adj" fmla="val 2163"/>
            </a:avLst>
          </a:prstGeom>
          <a:solidFill>
            <a:srgbClr val="111118"/>
          </a:solidFill>
          <a:ln w="8659">
            <a:solidFill>
              <a:srgbClr val="22D3EE">
                <a:alpha val="28000"/>
              </a:srgbClr>
            </a:solidFill>
            <a:prstDash val="solid"/>
          </a:ln>
          <a:effectLst>
            <a:outerShdw blurRad="228600" dist="50800" dir="16200000" algn="bl" rotWithShape="0">
              <a:srgbClr val="22D3EE">
                <a:alpha val="7000"/>
              </a:srgbClr>
            </a:outerShdw>
          </a:effectLst>
        </p:spPr>
        <p:txBody>
          <a:bodyPr/>
          <a:lstStyle/>
          <a:p>
            <a:endParaRPr lang="en-US"/>
          </a:p>
        </p:txBody>
      </p:sp>
      <p:sp>
        <p:nvSpPr>
          <p:cNvPr id="44" name="Shape 41"/>
          <p:cNvSpPr/>
          <p:nvPr/>
        </p:nvSpPr>
        <p:spPr>
          <a:xfrm>
            <a:off x="6777633" y="3495296"/>
            <a:ext cx="361923" cy="361923"/>
          </a:xfrm>
          <a:prstGeom prst="roundRect">
            <a:avLst>
              <a:gd name="adj" fmla="val 23686"/>
            </a:avLst>
          </a:prstGeom>
          <a:solidFill>
            <a:srgbClr val="22D3EE">
              <a:alpha val="10000"/>
            </a:srgbClr>
          </a:solidFill>
          <a:ln/>
        </p:spPr>
        <p:txBody>
          <a:bodyPr/>
          <a:lstStyle/>
          <a:p>
            <a:endParaRPr lang="en-US"/>
          </a:p>
        </p:txBody>
      </p:sp>
      <p:pic>
        <p:nvPicPr>
          <p:cNvPr id="45" name="Image 1" descr="preencoded.png"/>
          <p:cNvPicPr>
            <a:picLocks noChangeAspect="1"/>
          </p:cNvPicPr>
          <p:nvPr/>
        </p:nvPicPr>
        <p:blipFill>
          <a:blip r:embed="rId4"/>
          <a:stretch>
            <a:fillRect/>
          </a:stretch>
        </p:blipFill>
        <p:spPr>
          <a:xfrm>
            <a:off x="6872883" y="3590546"/>
            <a:ext cx="171423" cy="171423"/>
          </a:xfrm>
          <a:prstGeom prst="rect">
            <a:avLst/>
          </a:prstGeom>
        </p:spPr>
      </p:pic>
      <p:sp>
        <p:nvSpPr>
          <p:cNvPr id="46" name="Text 42"/>
          <p:cNvSpPr/>
          <p:nvPr/>
        </p:nvSpPr>
        <p:spPr>
          <a:xfrm>
            <a:off x="7272824" y="3386246"/>
            <a:ext cx="2735165" cy="349827"/>
          </a:xfrm>
          <a:prstGeom prst="rect">
            <a:avLst/>
          </a:prstGeom>
          <a:noFill/>
          <a:ln/>
        </p:spPr>
        <p:txBody>
          <a:bodyPr wrap="square" lIns="25400" tIns="25400" rIns="25400" bIns="25400" rtlCol="0" anchor="t">
            <a:normAutofit/>
          </a:bodyPr>
          <a:lstStyle/>
          <a:p>
            <a:pPr marL="0" indent="0" algn="l">
              <a:buNone/>
            </a:pPr>
            <a:r>
              <a:rPr lang="en-US" sz="2100" b="1" dirty="0">
                <a:solidFill>
                  <a:srgbClr val="22D3EE"/>
                </a:solidFill>
                <a:latin typeface="-apple-system" pitchFamily="34" charset="0"/>
                <a:ea typeface="-apple-system" pitchFamily="34" charset="-122"/>
                <a:cs typeface="-apple-system" pitchFamily="34" charset="-120"/>
              </a:rPr>
              <a:t>SaaS · Multi-Tenant</a:t>
            </a:r>
            <a:endParaRPr lang="en-US" sz="2100" dirty="0"/>
          </a:p>
        </p:txBody>
      </p:sp>
      <p:sp>
        <p:nvSpPr>
          <p:cNvPr id="47" name="Text 43"/>
          <p:cNvSpPr/>
          <p:nvPr/>
        </p:nvSpPr>
        <p:spPr>
          <a:xfrm>
            <a:off x="7272824" y="3697973"/>
            <a:ext cx="2735165"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Prism-managed · Phase 3</a:t>
            </a:r>
            <a:endParaRPr lang="en-US" sz="1800" dirty="0"/>
          </a:p>
        </p:txBody>
      </p:sp>
      <p:sp>
        <p:nvSpPr>
          <p:cNvPr id="48" name="Shape 44"/>
          <p:cNvSpPr/>
          <p:nvPr/>
        </p:nvSpPr>
        <p:spPr>
          <a:xfrm>
            <a:off x="6777633" y="4175847"/>
            <a:ext cx="4732599" cy="9525"/>
          </a:xfrm>
          <a:prstGeom prst="rect">
            <a:avLst/>
          </a:prstGeom>
          <a:solidFill>
            <a:srgbClr val="FFFFFF">
              <a:alpha val="6000"/>
            </a:srgbClr>
          </a:solidFill>
          <a:ln/>
        </p:spPr>
        <p:txBody>
          <a:bodyPr/>
          <a:lstStyle/>
          <a:p>
            <a:endParaRPr lang="en-US"/>
          </a:p>
        </p:txBody>
      </p:sp>
      <p:sp>
        <p:nvSpPr>
          <p:cNvPr id="49" name="Shape 45"/>
          <p:cNvSpPr/>
          <p:nvPr/>
        </p:nvSpPr>
        <p:spPr>
          <a:xfrm>
            <a:off x="6777633" y="4356740"/>
            <a:ext cx="4732599" cy="522793"/>
          </a:xfrm>
          <a:prstGeom prst="roundRect">
            <a:avLst>
              <a:gd name="adj" fmla="val 14576"/>
            </a:avLst>
          </a:prstGeom>
          <a:solidFill>
            <a:srgbClr val="16161F"/>
          </a:solidFill>
          <a:ln/>
        </p:spPr>
        <p:txBody>
          <a:bodyPr/>
          <a:lstStyle/>
          <a:p>
            <a:endParaRPr lang="en-US"/>
          </a:p>
        </p:txBody>
      </p:sp>
      <p:sp>
        <p:nvSpPr>
          <p:cNvPr id="50" name="Text 46"/>
          <p:cNvSpPr/>
          <p:nvPr/>
        </p:nvSpPr>
        <p:spPr>
          <a:xfrm>
            <a:off x="6929978" y="4470932"/>
            <a:ext cx="1441495"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EKS Fargate</a:t>
            </a:r>
            <a:endParaRPr lang="en-US" sz="1950" dirty="0"/>
          </a:p>
        </p:txBody>
      </p:sp>
      <p:sp>
        <p:nvSpPr>
          <p:cNvPr id="51" name="Text 47"/>
          <p:cNvSpPr/>
          <p:nvPr/>
        </p:nvSpPr>
        <p:spPr>
          <a:xfrm>
            <a:off x="10125183" y="4483921"/>
            <a:ext cx="1308903"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auto-scaling</a:t>
            </a:r>
            <a:endParaRPr lang="en-US" sz="1800" dirty="0"/>
          </a:p>
        </p:txBody>
      </p:sp>
      <p:sp>
        <p:nvSpPr>
          <p:cNvPr id="52" name="Shape 48"/>
          <p:cNvSpPr/>
          <p:nvPr/>
        </p:nvSpPr>
        <p:spPr>
          <a:xfrm>
            <a:off x="6777633" y="4993725"/>
            <a:ext cx="4732599" cy="522793"/>
          </a:xfrm>
          <a:prstGeom prst="roundRect">
            <a:avLst>
              <a:gd name="adj" fmla="val 14576"/>
            </a:avLst>
          </a:prstGeom>
          <a:solidFill>
            <a:srgbClr val="16161F"/>
          </a:solidFill>
          <a:ln/>
        </p:spPr>
        <p:txBody>
          <a:bodyPr/>
          <a:lstStyle/>
          <a:p>
            <a:endParaRPr lang="en-US"/>
          </a:p>
        </p:txBody>
      </p:sp>
      <p:sp>
        <p:nvSpPr>
          <p:cNvPr id="53" name="Text 49"/>
          <p:cNvSpPr/>
          <p:nvPr/>
        </p:nvSpPr>
        <p:spPr>
          <a:xfrm>
            <a:off x="6929978" y="5107916"/>
            <a:ext cx="753233"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Neo4j</a:t>
            </a:r>
            <a:endParaRPr lang="en-US" sz="1950" dirty="0"/>
          </a:p>
        </p:txBody>
      </p:sp>
      <p:sp>
        <p:nvSpPr>
          <p:cNvPr id="54" name="Text 50"/>
          <p:cNvSpPr/>
          <p:nvPr/>
        </p:nvSpPr>
        <p:spPr>
          <a:xfrm>
            <a:off x="8956206" y="5120905"/>
            <a:ext cx="2477880"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DB per tenant · isolated</a:t>
            </a:r>
            <a:endParaRPr lang="en-US" sz="1800" dirty="0"/>
          </a:p>
        </p:txBody>
      </p:sp>
      <p:sp>
        <p:nvSpPr>
          <p:cNvPr id="55" name="Shape 51"/>
          <p:cNvSpPr/>
          <p:nvPr/>
        </p:nvSpPr>
        <p:spPr>
          <a:xfrm>
            <a:off x="6777633" y="5630709"/>
            <a:ext cx="4732599" cy="522793"/>
          </a:xfrm>
          <a:prstGeom prst="roundRect">
            <a:avLst>
              <a:gd name="adj" fmla="val 14576"/>
            </a:avLst>
          </a:prstGeom>
          <a:solidFill>
            <a:srgbClr val="16161F"/>
          </a:solidFill>
          <a:ln/>
        </p:spPr>
        <p:txBody>
          <a:bodyPr/>
          <a:lstStyle/>
          <a:p>
            <a:endParaRPr lang="en-US"/>
          </a:p>
        </p:txBody>
      </p:sp>
      <p:sp>
        <p:nvSpPr>
          <p:cNvPr id="56" name="Text 52"/>
          <p:cNvSpPr/>
          <p:nvPr/>
        </p:nvSpPr>
        <p:spPr>
          <a:xfrm>
            <a:off x="6929978" y="5744901"/>
            <a:ext cx="1414977"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ElastiCache</a:t>
            </a:r>
            <a:endParaRPr lang="en-US" sz="1950" dirty="0"/>
          </a:p>
        </p:txBody>
      </p:sp>
      <p:sp>
        <p:nvSpPr>
          <p:cNvPr id="57" name="Text 53"/>
          <p:cNvSpPr/>
          <p:nvPr/>
        </p:nvSpPr>
        <p:spPr>
          <a:xfrm>
            <a:off x="9756630" y="5757889"/>
            <a:ext cx="1677455"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managed Redis</a:t>
            </a:r>
            <a:endParaRPr lang="en-US" sz="1800" dirty="0"/>
          </a:p>
        </p:txBody>
      </p:sp>
      <p:sp>
        <p:nvSpPr>
          <p:cNvPr id="58" name="Shape 54"/>
          <p:cNvSpPr/>
          <p:nvPr/>
        </p:nvSpPr>
        <p:spPr>
          <a:xfrm>
            <a:off x="6777633" y="6267694"/>
            <a:ext cx="4732599" cy="522793"/>
          </a:xfrm>
          <a:prstGeom prst="roundRect">
            <a:avLst>
              <a:gd name="adj" fmla="val 14576"/>
            </a:avLst>
          </a:prstGeom>
          <a:solidFill>
            <a:srgbClr val="16161F"/>
          </a:solidFill>
          <a:ln/>
        </p:spPr>
        <p:txBody>
          <a:bodyPr/>
          <a:lstStyle/>
          <a:p>
            <a:endParaRPr lang="en-US"/>
          </a:p>
        </p:txBody>
      </p:sp>
      <p:sp>
        <p:nvSpPr>
          <p:cNvPr id="59" name="Text 55"/>
          <p:cNvSpPr/>
          <p:nvPr/>
        </p:nvSpPr>
        <p:spPr>
          <a:xfrm>
            <a:off x="6929978" y="6381885"/>
            <a:ext cx="2131381"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CloudFront + WAF</a:t>
            </a:r>
            <a:endParaRPr lang="en-US" sz="1950" dirty="0"/>
          </a:p>
        </p:txBody>
      </p:sp>
      <p:sp>
        <p:nvSpPr>
          <p:cNvPr id="60" name="Text 56"/>
          <p:cNvSpPr/>
          <p:nvPr/>
        </p:nvSpPr>
        <p:spPr>
          <a:xfrm>
            <a:off x="9960390" y="6394874"/>
            <a:ext cx="1473696"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OWASP rules</a:t>
            </a:r>
            <a:endParaRPr lang="en-US" sz="1800" dirty="0"/>
          </a:p>
        </p:txBody>
      </p:sp>
      <p:sp>
        <p:nvSpPr>
          <p:cNvPr id="61" name="Shape 57"/>
          <p:cNvSpPr/>
          <p:nvPr/>
        </p:nvSpPr>
        <p:spPr>
          <a:xfrm>
            <a:off x="6777633" y="6904677"/>
            <a:ext cx="4732599" cy="522793"/>
          </a:xfrm>
          <a:prstGeom prst="roundRect">
            <a:avLst>
              <a:gd name="adj" fmla="val 14576"/>
            </a:avLst>
          </a:prstGeom>
          <a:solidFill>
            <a:srgbClr val="16161F"/>
          </a:solidFill>
          <a:ln/>
        </p:spPr>
        <p:txBody>
          <a:bodyPr/>
          <a:lstStyle/>
          <a:p>
            <a:endParaRPr lang="en-US"/>
          </a:p>
        </p:txBody>
      </p:sp>
      <p:sp>
        <p:nvSpPr>
          <p:cNvPr id="62" name="Text 58"/>
          <p:cNvSpPr/>
          <p:nvPr/>
        </p:nvSpPr>
        <p:spPr>
          <a:xfrm>
            <a:off x="6929978" y="7018869"/>
            <a:ext cx="1910710" cy="332509"/>
          </a:xfrm>
          <a:prstGeom prst="rect">
            <a:avLst/>
          </a:prstGeom>
          <a:noFill/>
          <a:ln/>
        </p:spPr>
        <p:txBody>
          <a:bodyPr wrap="square" lIns="25400" tIns="25400" rIns="25400" bIns="25400" rtlCol="0" anchor="t">
            <a:normAutofit/>
          </a:bodyPr>
          <a:lstStyle/>
          <a:p>
            <a:pPr marL="0" indent="0" algn="l">
              <a:buNone/>
            </a:pPr>
            <a:r>
              <a:rPr lang="en-US" sz="1950" b="1" dirty="0">
                <a:solidFill>
                  <a:srgbClr val="EDEDF8"/>
                </a:solidFill>
                <a:latin typeface="-apple-system" pitchFamily="34" charset="0"/>
                <a:ea typeface="-apple-system" pitchFamily="34" charset="-122"/>
                <a:cs typeface="-apple-system" pitchFamily="34" charset="-120"/>
              </a:rPr>
              <a:t>Cognito + Stripe</a:t>
            </a:r>
            <a:endParaRPr lang="en-US" sz="1950" dirty="0"/>
          </a:p>
        </p:txBody>
      </p:sp>
      <p:sp>
        <p:nvSpPr>
          <p:cNvPr id="63" name="Text 59"/>
          <p:cNvSpPr/>
          <p:nvPr/>
        </p:nvSpPr>
        <p:spPr>
          <a:xfrm>
            <a:off x="10125183" y="7031858"/>
            <a:ext cx="1308903" cy="306532"/>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auth · billing</a:t>
            </a:r>
            <a:endParaRPr lang="en-US" sz="1800" dirty="0"/>
          </a:p>
        </p:txBody>
      </p:sp>
      <p:sp>
        <p:nvSpPr>
          <p:cNvPr id="64" name="Shape 60"/>
          <p:cNvSpPr/>
          <p:nvPr/>
        </p:nvSpPr>
        <p:spPr>
          <a:xfrm>
            <a:off x="6777633" y="7598893"/>
            <a:ext cx="4732599" cy="9525"/>
          </a:xfrm>
          <a:prstGeom prst="rect">
            <a:avLst/>
          </a:prstGeom>
          <a:solidFill>
            <a:srgbClr val="FFFFFF">
              <a:alpha val="6000"/>
            </a:srgbClr>
          </a:solidFill>
          <a:ln/>
        </p:spPr>
        <p:txBody>
          <a:bodyPr/>
          <a:lstStyle/>
          <a:p>
            <a:endParaRPr lang="en-US"/>
          </a:p>
        </p:txBody>
      </p:sp>
      <p:sp>
        <p:nvSpPr>
          <p:cNvPr id="65" name="Shape 61"/>
          <p:cNvSpPr/>
          <p:nvPr/>
        </p:nvSpPr>
        <p:spPr>
          <a:xfrm>
            <a:off x="6777633" y="7779787"/>
            <a:ext cx="1219849" cy="363682"/>
          </a:xfrm>
          <a:prstGeom prst="roundRect">
            <a:avLst>
              <a:gd name="adj" fmla="val 50000"/>
            </a:avLst>
          </a:prstGeom>
          <a:solidFill>
            <a:srgbClr val="22D3EE">
              <a:alpha val="10000"/>
            </a:srgbClr>
          </a:solidFill>
          <a:ln/>
        </p:spPr>
        <p:txBody>
          <a:bodyPr/>
          <a:lstStyle/>
          <a:p>
            <a:endParaRPr lang="en-US"/>
          </a:p>
        </p:txBody>
      </p:sp>
      <p:sp>
        <p:nvSpPr>
          <p:cNvPr id="66" name="Text 62"/>
          <p:cNvSpPr/>
          <p:nvPr/>
        </p:nvSpPr>
        <p:spPr>
          <a:xfrm>
            <a:off x="6910983" y="7827412"/>
            <a:ext cx="1029349" cy="306532"/>
          </a:xfrm>
          <a:prstGeom prst="rect">
            <a:avLst/>
          </a:prstGeom>
          <a:noFill/>
          <a:ln/>
        </p:spPr>
        <p:txBody>
          <a:bodyPr wrap="square" lIns="25400" tIns="25400" rIns="25400" bIns="25400" rtlCol="0" anchor="t">
            <a:normAutofit/>
          </a:bodyPr>
          <a:lstStyle/>
          <a:p>
            <a:pPr marL="0" indent="0" algn="l">
              <a:buNone/>
            </a:pPr>
            <a:r>
              <a:rPr lang="en-US" sz="1800" dirty="0">
                <a:solidFill>
                  <a:srgbClr val="22D3EE"/>
                </a:solidFill>
                <a:latin typeface="Arial" pitchFamily="34" charset="0"/>
                <a:ea typeface="Arial" pitchFamily="34" charset="-122"/>
                <a:cs typeface="Arial" pitchFamily="34" charset="-120"/>
              </a:rPr>
              <a:t>Managed</a:t>
            </a:r>
            <a:endParaRPr lang="en-US" sz="1800" dirty="0"/>
          </a:p>
        </p:txBody>
      </p:sp>
      <p:sp>
        <p:nvSpPr>
          <p:cNvPr id="67" name="Shape 63"/>
          <p:cNvSpPr/>
          <p:nvPr/>
        </p:nvSpPr>
        <p:spPr>
          <a:xfrm>
            <a:off x="8092732" y="7779787"/>
            <a:ext cx="1346624" cy="363682"/>
          </a:xfrm>
          <a:prstGeom prst="roundRect">
            <a:avLst>
              <a:gd name="adj" fmla="val 50000"/>
            </a:avLst>
          </a:prstGeom>
          <a:solidFill>
            <a:srgbClr val="22D3EE">
              <a:alpha val="10000"/>
            </a:srgbClr>
          </a:solidFill>
          <a:ln/>
        </p:spPr>
        <p:txBody>
          <a:bodyPr/>
          <a:lstStyle/>
          <a:p>
            <a:endParaRPr lang="en-US"/>
          </a:p>
        </p:txBody>
      </p:sp>
      <p:sp>
        <p:nvSpPr>
          <p:cNvPr id="68" name="Text 64"/>
          <p:cNvSpPr/>
          <p:nvPr/>
        </p:nvSpPr>
        <p:spPr>
          <a:xfrm>
            <a:off x="8226082" y="7827412"/>
            <a:ext cx="1156124" cy="306532"/>
          </a:xfrm>
          <a:prstGeom prst="rect">
            <a:avLst/>
          </a:prstGeom>
          <a:noFill/>
          <a:ln/>
        </p:spPr>
        <p:txBody>
          <a:bodyPr wrap="square" lIns="25400" tIns="25400" rIns="25400" bIns="25400" rtlCol="0" anchor="t">
            <a:normAutofit/>
          </a:bodyPr>
          <a:lstStyle/>
          <a:p>
            <a:pPr marL="0" indent="0" algn="l">
              <a:buNone/>
            </a:pPr>
            <a:r>
              <a:rPr lang="en-US" sz="1800" dirty="0">
                <a:solidFill>
                  <a:srgbClr val="22D3EE"/>
                </a:solidFill>
                <a:latin typeface="Arial" pitchFamily="34" charset="0"/>
                <a:ea typeface="Arial" pitchFamily="34" charset="-122"/>
                <a:cs typeface="Arial" pitchFamily="34" charset="-120"/>
              </a:rPr>
              <a:t>Auto-scale</a:t>
            </a:r>
            <a:endParaRPr lang="en-US" sz="1800" dirty="0"/>
          </a:p>
        </p:txBody>
      </p:sp>
      <p:sp>
        <p:nvSpPr>
          <p:cNvPr id="69" name="Shape 65"/>
          <p:cNvSpPr/>
          <p:nvPr/>
        </p:nvSpPr>
        <p:spPr>
          <a:xfrm>
            <a:off x="9534606" y="7779787"/>
            <a:ext cx="1511823" cy="363682"/>
          </a:xfrm>
          <a:prstGeom prst="roundRect">
            <a:avLst>
              <a:gd name="adj" fmla="val 50000"/>
            </a:avLst>
          </a:prstGeom>
          <a:solidFill>
            <a:srgbClr val="22D3EE">
              <a:alpha val="10000"/>
            </a:srgbClr>
          </a:solidFill>
          <a:ln/>
        </p:spPr>
        <p:txBody>
          <a:bodyPr/>
          <a:lstStyle/>
          <a:p>
            <a:endParaRPr lang="en-US"/>
          </a:p>
        </p:txBody>
      </p:sp>
      <p:sp>
        <p:nvSpPr>
          <p:cNvPr id="70" name="Text 66"/>
          <p:cNvSpPr/>
          <p:nvPr/>
        </p:nvSpPr>
        <p:spPr>
          <a:xfrm>
            <a:off x="9667956" y="7827412"/>
            <a:ext cx="1321323" cy="306532"/>
          </a:xfrm>
          <a:prstGeom prst="rect">
            <a:avLst/>
          </a:prstGeom>
          <a:noFill/>
          <a:ln/>
        </p:spPr>
        <p:txBody>
          <a:bodyPr wrap="square" lIns="25400" tIns="25400" rIns="25400" bIns="25400" rtlCol="0" anchor="t">
            <a:normAutofit/>
          </a:bodyPr>
          <a:lstStyle/>
          <a:p>
            <a:pPr marL="0" indent="0" algn="l">
              <a:buNone/>
            </a:pPr>
            <a:r>
              <a:rPr lang="en-US" sz="1800" dirty="0">
                <a:solidFill>
                  <a:srgbClr val="22D3EE"/>
                </a:solidFill>
                <a:latin typeface="Arial" pitchFamily="34" charset="0"/>
                <a:ea typeface="Arial" pitchFamily="34" charset="-122"/>
                <a:cs typeface="Arial" pitchFamily="34" charset="-120"/>
              </a:rPr>
              <a:t>Stripe billing</a:t>
            </a:r>
            <a:endParaRPr lang="en-US" sz="1800" dirty="0"/>
          </a:p>
        </p:txBody>
      </p:sp>
      <p:sp>
        <p:nvSpPr>
          <p:cNvPr id="71" name="Shape 67"/>
          <p:cNvSpPr/>
          <p:nvPr/>
        </p:nvSpPr>
        <p:spPr>
          <a:xfrm>
            <a:off x="6777633" y="10815204"/>
            <a:ext cx="4732599" cy="560947"/>
          </a:xfrm>
          <a:prstGeom prst="roundRect">
            <a:avLst>
              <a:gd name="adj" fmla="val 13584"/>
            </a:avLst>
          </a:prstGeom>
          <a:solidFill>
            <a:srgbClr val="22D3EE">
              <a:alpha val="7000"/>
            </a:srgbClr>
          </a:solidFill>
          <a:ln w="8659">
            <a:solidFill>
              <a:srgbClr val="22D3EE">
                <a:alpha val="20000"/>
              </a:srgbClr>
            </a:solidFill>
            <a:prstDash val="solid"/>
          </a:ln>
        </p:spPr>
        <p:txBody>
          <a:bodyPr/>
          <a:lstStyle/>
          <a:p>
            <a:endParaRPr lang="en-US"/>
          </a:p>
        </p:txBody>
      </p:sp>
      <p:sp>
        <p:nvSpPr>
          <p:cNvPr id="72" name="Text 68"/>
          <p:cNvSpPr/>
          <p:nvPr/>
        </p:nvSpPr>
        <p:spPr>
          <a:xfrm>
            <a:off x="6957742" y="10957213"/>
            <a:ext cx="4514359" cy="315029"/>
          </a:xfrm>
          <a:prstGeom prst="rect">
            <a:avLst/>
          </a:prstGeom>
          <a:noFill/>
          <a:ln/>
        </p:spPr>
        <p:txBody>
          <a:bodyPr wrap="square" lIns="25400" tIns="25400" rIns="25400" bIns="25400" rtlCol="0" anchor="t">
            <a:normAutofit/>
          </a:bodyPr>
          <a:lstStyle/>
          <a:p>
            <a:pPr marL="0" indent="0" algn="l">
              <a:buNone/>
            </a:pPr>
            <a:r>
              <a:rPr lang="en-US" sz="1800" dirty="0">
                <a:solidFill>
                  <a:srgbClr val="22D3EE"/>
                </a:solidFill>
                <a:latin typeface="Arial" pitchFamily="34" charset="0"/>
                <a:ea typeface="Arial" pitchFamily="34" charset="-122"/>
                <a:cs typeface="Arial" pitchFamily="34" charset="-120"/>
              </a:rPr>
              <a:t>◆ DB-per-tenant · zero cross-bleed</a:t>
            </a:r>
            <a:endParaRPr lang="en-US" sz="1800" dirty="0"/>
          </a:p>
        </p:txBody>
      </p:sp>
      <p:sp>
        <p:nvSpPr>
          <p:cNvPr id="73" name="Text 69"/>
          <p:cNvSpPr/>
          <p:nvPr/>
        </p:nvSpPr>
        <p:spPr>
          <a:xfrm>
            <a:off x="12052236" y="3091837"/>
            <a:ext cx="5441761"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4-LAYER SYSTEM ARCHITECTURE</a:t>
            </a:r>
            <a:endParaRPr lang="en-US" sz="1800" dirty="0"/>
          </a:p>
        </p:txBody>
      </p:sp>
      <p:sp>
        <p:nvSpPr>
          <p:cNvPr id="74" name="Shape 70"/>
          <p:cNvSpPr/>
          <p:nvPr/>
        </p:nvSpPr>
        <p:spPr>
          <a:xfrm>
            <a:off x="12052236" y="3566192"/>
            <a:ext cx="5283263" cy="932476"/>
          </a:xfrm>
          <a:prstGeom prst="roundRect">
            <a:avLst>
              <a:gd name="adj" fmla="val 8172"/>
            </a:avLst>
          </a:prstGeom>
          <a:solidFill>
            <a:srgbClr val="5E6AD2">
              <a:alpha val="10000"/>
            </a:srgbClr>
          </a:solidFill>
          <a:ln w="8659">
            <a:solidFill>
              <a:srgbClr val="5E6AD2">
                <a:alpha val="25000"/>
              </a:srgbClr>
            </a:solidFill>
            <a:prstDash val="solid"/>
          </a:ln>
        </p:spPr>
        <p:txBody>
          <a:bodyPr/>
          <a:lstStyle/>
          <a:p>
            <a:endParaRPr lang="en-US"/>
          </a:p>
        </p:txBody>
      </p:sp>
      <p:sp>
        <p:nvSpPr>
          <p:cNvPr id="75" name="Text 71"/>
          <p:cNvSpPr/>
          <p:nvPr/>
        </p:nvSpPr>
        <p:spPr>
          <a:xfrm>
            <a:off x="12251395" y="3727197"/>
            <a:ext cx="5031493"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E6AD2"/>
                </a:solidFill>
                <a:latin typeface="Arial" pitchFamily="34" charset="0"/>
                <a:ea typeface="Arial" pitchFamily="34" charset="-122"/>
                <a:cs typeface="Arial" pitchFamily="34" charset="-120"/>
              </a:rPr>
              <a:t>PRESENTATION</a:t>
            </a:r>
            <a:endParaRPr lang="en-US" sz="1800" dirty="0"/>
          </a:p>
        </p:txBody>
      </p:sp>
      <p:sp>
        <p:nvSpPr>
          <p:cNvPr id="76" name="Text 72"/>
          <p:cNvSpPr/>
          <p:nvPr/>
        </p:nvSpPr>
        <p:spPr>
          <a:xfrm>
            <a:off x="12251395" y="4043254"/>
            <a:ext cx="5031493" cy="332509"/>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pple-system" pitchFamily="34" charset="0"/>
                <a:ea typeface="-apple-system" pitchFamily="34" charset="-122"/>
                <a:cs typeface="-apple-system" pitchFamily="34" charset="-120"/>
              </a:rPr>
              <a:t>Topology · App Lens · Iris Chat · 13 modules</a:t>
            </a:r>
            <a:endParaRPr lang="en-US" sz="1950" dirty="0"/>
          </a:p>
        </p:txBody>
      </p:sp>
      <p:sp>
        <p:nvSpPr>
          <p:cNvPr id="77" name="Text 73"/>
          <p:cNvSpPr/>
          <p:nvPr/>
        </p:nvSpPr>
        <p:spPr>
          <a:xfrm>
            <a:off x="11972987" y="4574841"/>
            <a:ext cx="5441761"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35000"/>
                  </a:srgbClr>
                </a:solidFill>
                <a:latin typeface="Arial" pitchFamily="34" charset="0"/>
                <a:ea typeface="Arial" pitchFamily="34" charset="-122"/>
                <a:cs typeface="Arial" pitchFamily="34" charset="-120"/>
              </a:rPr>
              <a:t>▼ REST + WebSocket</a:t>
            </a:r>
            <a:endParaRPr lang="en-US" sz="1800" dirty="0"/>
          </a:p>
        </p:txBody>
      </p:sp>
      <p:sp>
        <p:nvSpPr>
          <p:cNvPr id="78" name="Shape 74"/>
          <p:cNvSpPr/>
          <p:nvPr/>
        </p:nvSpPr>
        <p:spPr>
          <a:xfrm>
            <a:off x="12052236" y="4879668"/>
            <a:ext cx="5283263" cy="1226885"/>
          </a:xfrm>
          <a:prstGeom prst="roundRect">
            <a:avLst>
              <a:gd name="adj" fmla="val 6211"/>
            </a:avLst>
          </a:prstGeom>
          <a:solidFill>
            <a:srgbClr val="7170FF">
              <a:alpha val="8000"/>
            </a:srgbClr>
          </a:solidFill>
          <a:ln w="8659">
            <a:solidFill>
              <a:srgbClr val="7170FF">
                <a:alpha val="22000"/>
              </a:srgbClr>
            </a:solidFill>
            <a:prstDash val="solid"/>
          </a:ln>
        </p:spPr>
        <p:txBody>
          <a:bodyPr/>
          <a:lstStyle/>
          <a:p>
            <a:endParaRPr lang="en-US"/>
          </a:p>
        </p:txBody>
      </p:sp>
      <p:sp>
        <p:nvSpPr>
          <p:cNvPr id="79" name="Text 75"/>
          <p:cNvSpPr/>
          <p:nvPr/>
        </p:nvSpPr>
        <p:spPr>
          <a:xfrm>
            <a:off x="12251395" y="5040673"/>
            <a:ext cx="5031493"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7170FF"/>
                </a:solidFill>
                <a:latin typeface="Arial" pitchFamily="34" charset="0"/>
                <a:ea typeface="Arial" pitchFamily="34" charset="-122"/>
                <a:cs typeface="Arial" pitchFamily="34" charset="-120"/>
              </a:rPr>
              <a:t>INTELLIGENCE</a:t>
            </a:r>
            <a:endParaRPr lang="en-US" sz="1800" dirty="0"/>
          </a:p>
        </p:txBody>
      </p:sp>
      <p:sp>
        <p:nvSpPr>
          <p:cNvPr id="80" name="Text 76"/>
          <p:cNvSpPr/>
          <p:nvPr/>
        </p:nvSpPr>
        <p:spPr>
          <a:xfrm>
            <a:off x="12251395" y="5356730"/>
            <a:ext cx="5031493" cy="626918"/>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pple-system" pitchFamily="34" charset="0"/>
                <a:ea typeface="-apple-system" pitchFamily="34" charset="-122"/>
                <a:cs typeface="-apple-system" pitchFamily="34" charset="-120"/>
              </a:rPr>
              <a:t>Iris · CPT Engine · Compliance · Blast Radius · LLM Router</a:t>
            </a:r>
            <a:endParaRPr lang="en-US" sz="1950" dirty="0"/>
          </a:p>
        </p:txBody>
      </p:sp>
      <p:sp>
        <p:nvSpPr>
          <p:cNvPr id="81" name="Text 77"/>
          <p:cNvSpPr/>
          <p:nvPr/>
        </p:nvSpPr>
        <p:spPr>
          <a:xfrm>
            <a:off x="11972987" y="6182726"/>
            <a:ext cx="5441761"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35000"/>
                  </a:srgbClr>
                </a:solidFill>
                <a:latin typeface="Arial" pitchFamily="34" charset="0"/>
                <a:ea typeface="Arial" pitchFamily="34" charset="-122"/>
                <a:cs typeface="Arial" pitchFamily="34" charset="-120"/>
              </a:rPr>
              <a:t>▼ Parameterized Cypher</a:t>
            </a:r>
            <a:endParaRPr lang="en-US" sz="1800" dirty="0"/>
          </a:p>
        </p:txBody>
      </p:sp>
      <p:sp>
        <p:nvSpPr>
          <p:cNvPr id="82" name="Shape 78"/>
          <p:cNvSpPr/>
          <p:nvPr/>
        </p:nvSpPr>
        <p:spPr>
          <a:xfrm>
            <a:off x="12052236" y="6487553"/>
            <a:ext cx="5283263" cy="1226885"/>
          </a:xfrm>
          <a:prstGeom prst="roundRect">
            <a:avLst>
              <a:gd name="adj" fmla="val 6211"/>
            </a:avLst>
          </a:prstGeom>
          <a:solidFill>
            <a:srgbClr val="34D399">
              <a:alpha val="7000"/>
            </a:srgbClr>
          </a:solidFill>
          <a:ln w="8659">
            <a:solidFill>
              <a:srgbClr val="34D399">
                <a:alpha val="18000"/>
              </a:srgbClr>
            </a:solidFill>
            <a:prstDash val="solid"/>
          </a:ln>
        </p:spPr>
        <p:txBody>
          <a:bodyPr/>
          <a:lstStyle/>
          <a:p>
            <a:endParaRPr lang="en-US"/>
          </a:p>
        </p:txBody>
      </p:sp>
      <p:sp>
        <p:nvSpPr>
          <p:cNvPr id="83" name="Text 79"/>
          <p:cNvSpPr/>
          <p:nvPr/>
        </p:nvSpPr>
        <p:spPr>
          <a:xfrm>
            <a:off x="12251395" y="6648558"/>
            <a:ext cx="5031493"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34D399"/>
                </a:solidFill>
                <a:latin typeface="Arial" pitchFamily="34" charset="0"/>
                <a:ea typeface="Arial" pitchFamily="34" charset="-122"/>
                <a:cs typeface="Arial" pitchFamily="34" charset="-120"/>
              </a:rPr>
              <a:t>DATA</a:t>
            </a:r>
            <a:endParaRPr lang="en-US" sz="1800" dirty="0"/>
          </a:p>
        </p:txBody>
      </p:sp>
      <p:sp>
        <p:nvSpPr>
          <p:cNvPr id="84" name="Text 80"/>
          <p:cNvSpPr/>
          <p:nvPr/>
        </p:nvSpPr>
        <p:spPr>
          <a:xfrm>
            <a:off x="12251395" y="6964615"/>
            <a:ext cx="5031493" cy="626918"/>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pple-system" pitchFamily="34" charset="0"/>
                <a:ea typeface="-apple-system" pitchFamily="34" charset="-122"/>
                <a:cs typeface="-apple-system" pitchFamily="34" charset="-120"/>
              </a:rPr>
              <a:t>Neo4j 5.x · Redis 7 · S3/MinIO · DB-per-tenant</a:t>
            </a:r>
            <a:endParaRPr lang="en-US" sz="1950" dirty="0"/>
          </a:p>
        </p:txBody>
      </p:sp>
      <p:sp>
        <p:nvSpPr>
          <p:cNvPr id="85" name="Text 81"/>
          <p:cNvSpPr/>
          <p:nvPr/>
        </p:nvSpPr>
        <p:spPr>
          <a:xfrm>
            <a:off x="11972987" y="7790611"/>
            <a:ext cx="5441761" cy="266754"/>
          </a:xfrm>
          <a:prstGeom prst="rect">
            <a:avLst/>
          </a:prstGeom>
          <a:noFill/>
          <a:ln/>
        </p:spPr>
        <p:txBody>
          <a:bodyPr wrap="square" lIns="25400" tIns="25400" rIns="25400" bIns="25400" rtlCol="0" anchor="t">
            <a:normAutofit/>
          </a:bodyPr>
          <a:lstStyle/>
          <a:p>
            <a:pPr marL="0" indent="0" algn="ctr">
              <a:lnSpc>
                <a:spcPct val="100000"/>
              </a:lnSpc>
              <a:buNone/>
            </a:pPr>
            <a:r>
              <a:rPr lang="en-US" sz="1800" dirty="0">
                <a:solidFill>
                  <a:srgbClr val="5E6AD2">
                    <a:alpha val="35000"/>
                  </a:srgbClr>
                </a:solidFill>
                <a:latin typeface="Arial" pitchFamily="34" charset="0"/>
                <a:ea typeface="Arial" pitchFamily="34" charset="-122"/>
                <a:cs typeface="Arial" pitchFamily="34" charset="-120"/>
              </a:rPr>
              <a:t>▼ Adapter Pattern</a:t>
            </a:r>
            <a:endParaRPr lang="en-US" sz="1800" dirty="0"/>
          </a:p>
        </p:txBody>
      </p:sp>
      <p:sp>
        <p:nvSpPr>
          <p:cNvPr id="86" name="Shape 82"/>
          <p:cNvSpPr/>
          <p:nvPr/>
        </p:nvSpPr>
        <p:spPr>
          <a:xfrm>
            <a:off x="12052236" y="8095438"/>
            <a:ext cx="5283263" cy="1521294"/>
          </a:xfrm>
          <a:prstGeom prst="roundRect">
            <a:avLst>
              <a:gd name="adj" fmla="val 5009"/>
            </a:avLst>
          </a:prstGeom>
          <a:solidFill>
            <a:srgbClr val="FBBF24">
              <a:alpha val="6000"/>
            </a:srgbClr>
          </a:solidFill>
          <a:ln w="8659">
            <a:solidFill>
              <a:srgbClr val="FBBF24">
                <a:alpha val="18000"/>
              </a:srgbClr>
            </a:solidFill>
            <a:prstDash val="solid"/>
          </a:ln>
        </p:spPr>
        <p:txBody>
          <a:bodyPr/>
          <a:lstStyle/>
          <a:p>
            <a:endParaRPr lang="en-US"/>
          </a:p>
        </p:txBody>
      </p:sp>
      <p:sp>
        <p:nvSpPr>
          <p:cNvPr id="87" name="Text 83"/>
          <p:cNvSpPr/>
          <p:nvPr/>
        </p:nvSpPr>
        <p:spPr>
          <a:xfrm>
            <a:off x="12251395" y="8256443"/>
            <a:ext cx="5031493"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BBF24"/>
                </a:solidFill>
                <a:latin typeface="Arial" pitchFamily="34" charset="0"/>
                <a:ea typeface="Arial" pitchFamily="34" charset="-122"/>
                <a:cs typeface="Arial" pitchFamily="34" charset="-120"/>
              </a:rPr>
              <a:t>CONNECTORS</a:t>
            </a:r>
            <a:endParaRPr lang="en-US" sz="1800" dirty="0"/>
          </a:p>
        </p:txBody>
      </p:sp>
      <p:sp>
        <p:nvSpPr>
          <p:cNvPr id="88" name="Text 84"/>
          <p:cNvSpPr/>
          <p:nvPr/>
        </p:nvSpPr>
        <p:spPr>
          <a:xfrm>
            <a:off x="12251395" y="8572499"/>
            <a:ext cx="5031493" cy="921327"/>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pple-system" pitchFamily="34" charset="0"/>
                <a:ea typeface="-apple-system" pitchFamily="34" charset="-122"/>
                <a:cs typeface="-apple-system" pitchFamily="34" charset="-120"/>
              </a:rPr>
              <a:t>K8s · GitHub · Datadog · ArgoCD · Kafka · AWS · ServiceNow · Jira · Vault · SonarQube · Terraform · Nexus · API Connect</a:t>
            </a:r>
            <a:endParaRPr lang="en-US" sz="1950" dirty="0"/>
          </a:p>
        </p:txBody>
      </p:sp>
      <p:sp>
        <p:nvSpPr>
          <p:cNvPr id="89" name="Shape 85"/>
          <p:cNvSpPr/>
          <p:nvPr/>
        </p:nvSpPr>
        <p:spPr>
          <a:xfrm>
            <a:off x="12052236" y="9769078"/>
            <a:ext cx="5283263" cy="1901482"/>
          </a:xfrm>
          <a:prstGeom prst="roundRect">
            <a:avLst>
              <a:gd name="adj" fmla="val 5009"/>
            </a:avLst>
          </a:prstGeom>
          <a:solidFill>
            <a:srgbClr val="111118"/>
          </a:solidFill>
          <a:ln w="8659">
            <a:solidFill>
              <a:srgbClr val="FFFFFF">
                <a:alpha val="6000"/>
              </a:srgbClr>
            </a:solidFill>
            <a:prstDash val="solid"/>
          </a:ln>
        </p:spPr>
        <p:txBody>
          <a:bodyPr/>
          <a:lstStyle/>
          <a:p>
            <a:endParaRPr lang="en-US"/>
          </a:p>
        </p:txBody>
      </p:sp>
      <p:sp>
        <p:nvSpPr>
          <p:cNvPr id="90" name="Text 86"/>
          <p:cNvSpPr/>
          <p:nvPr/>
        </p:nvSpPr>
        <p:spPr>
          <a:xfrm>
            <a:off x="12289414" y="9968237"/>
            <a:ext cx="2414019"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42425A"/>
                </a:solidFill>
                <a:latin typeface="Arial" pitchFamily="34" charset="0"/>
                <a:ea typeface="Arial" pitchFamily="34" charset="-122"/>
                <a:cs typeface="Arial" pitchFamily="34" charset="-120"/>
              </a:rPr>
              <a:t>GRAPH ISOLATION</a:t>
            </a:r>
            <a:endParaRPr lang="en-US" sz="1800" dirty="0"/>
          </a:p>
        </p:txBody>
      </p:sp>
      <p:sp>
        <p:nvSpPr>
          <p:cNvPr id="91" name="Text 87"/>
          <p:cNvSpPr/>
          <p:nvPr/>
        </p:nvSpPr>
        <p:spPr>
          <a:xfrm>
            <a:off x="12289414" y="10293765"/>
            <a:ext cx="2414019" cy="1215736"/>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pple-system" pitchFamily="34" charset="0"/>
                <a:ea typeface="-apple-system" pitchFamily="34" charset="-122"/>
                <a:cs typeface="-apple-system" pitchFamily="34" charset="-120"/>
              </a:rPr>
              <a:t>Separate Neo4j DB per tenant — queries physically cannot cross boundaries</a:t>
            </a:r>
            <a:endParaRPr lang="en-US" sz="1950" dirty="0"/>
          </a:p>
        </p:txBody>
      </p:sp>
      <p:sp>
        <p:nvSpPr>
          <p:cNvPr id="92" name="Text 88"/>
          <p:cNvSpPr/>
          <p:nvPr/>
        </p:nvSpPr>
        <p:spPr>
          <a:xfrm>
            <a:off x="14760503" y="9968237"/>
            <a:ext cx="2414019" cy="306532"/>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42425A"/>
                </a:solidFill>
                <a:latin typeface="Arial" pitchFamily="34" charset="0"/>
                <a:ea typeface="Arial" pitchFamily="34" charset="-122"/>
                <a:cs typeface="Arial" pitchFamily="34" charset="-120"/>
              </a:rPr>
              <a:t>ENCRYPTION</a:t>
            </a:r>
            <a:endParaRPr lang="en-US" sz="1800" dirty="0"/>
          </a:p>
        </p:txBody>
      </p:sp>
      <p:sp>
        <p:nvSpPr>
          <p:cNvPr id="93" name="Text 89"/>
          <p:cNvSpPr/>
          <p:nvPr/>
        </p:nvSpPr>
        <p:spPr>
          <a:xfrm>
            <a:off x="14760503" y="10293765"/>
            <a:ext cx="2414019" cy="1215736"/>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pple-system" pitchFamily="34" charset="0"/>
                <a:ea typeface="-apple-system" pitchFamily="34" charset="-122"/>
                <a:cs typeface="-apple-system" pitchFamily="34" charset="-120"/>
              </a:rPr>
              <a:t>AES-256 + per-tenant Fernet · BYOK · Vault/KMS · TLS everywhere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9090F"/>
        </a:solidFill>
        <a:effectLst/>
      </p:bgPr>
    </p:bg>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solidFill>
            <a:srgbClr val="060609"/>
          </a:solidFill>
          <a:ln/>
        </p:spPr>
        <p:txBody>
          <a:bodyPr/>
          <a:lstStyle/>
          <a:p>
            <a:endParaRPr lang="en-US"/>
          </a:p>
        </p:txBody>
      </p:sp>
      <p:sp>
        <p:nvSpPr>
          <p:cNvPr id="3" name="Shape 1"/>
          <p:cNvSpPr/>
          <p:nvPr/>
        </p:nvSpPr>
        <p:spPr>
          <a:xfrm>
            <a:off x="0" y="0"/>
            <a:ext cx="18287999" cy="10287000"/>
          </a:xfrm>
          <a:prstGeom prst="rect">
            <a:avLst/>
          </a:prstGeom>
          <a:solidFill>
            <a:srgbClr val="FFFFFF">
              <a:alpha val="3000"/>
            </a:srgbClr>
          </a:solidFill>
          <a:ln/>
        </p:spPr>
        <p:txBody>
          <a:bodyPr/>
          <a:lstStyle/>
          <a:p>
            <a:endParaRPr lang="en-US"/>
          </a:p>
        </p:txBody>
      </p:sp>
      <p:sp>
        <p:nvSpPr>
          <p:cNvPr id="4" name="Shape 2"/>
          <p:cNvSpPr/>
          <p:nvPr/>
        </p:nvSpPr>
        <p:spPr>
          <a:xfrm>
            <a:off x="0" y="0"/>
            <a:ext cx="18287999" cy="10287000"/>
          </a:xfrm>
          <a:prstGeom prst="rect">
            <a:avLst/>
          </a:prstGeom>
          <a:solidFill>
            <a:srgbClr val="5E6AD2">
              <a:alpha val="10000"/>
            </a:srgbClr>
          </a:solidFill>
          <a:ln/>
        </p:spPr>
        <p:txBody>
          <a:bodyPr/>
          <a:lstStyle/>
          <a:p>
            <a:endParaRPr lang="en-US"/>
          </a:p>
        </p:txBody>
      </p:sp>
      <p:sp>
        <p:nvSpPr>
          <p:cNvPr id="5" name="Text 3"/>
          <p:cNvSpPr/>
          <p:nvPr/>
        </p:nvSpPr>
        <p:spPr>
          <a:xfrm>
            <a:off x="952500" y="857250"/>
            <a:ext cx="6528190"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E6AD2"/>
                </a:solidFill>
                <a:latin typeface="Arial" pitchFamily="34" charset="0"/>
                <a:ea typeface="Arial" pitchFamily="34" charset="-122"/>
                <a:cs typeface="Arial" pitchFamily="34" charset="-120"/>
              </a:rPr>
              <a:t>DESIGN PARTNER PROGRAM · APRIL 2026</a:t>
            </a:r>
            <a:endParaRPr lang="en-US" sz="1800" dirty="0"/>
          </a:p>
        </p:txBody>
      </p:sp>
      <p:sp>
        <p:nvSpPr>
          <p:cNvPr id="6" name="Text 4"/>
          <p:cNvSpPr/>
          <p:nvPr/>
        </p:nvSpPr>
        <p:spPr>
          <a:xfrm>
            <a:off x="952500" y="1350818"/>
            <a:ext cx="6528190" cy="1379177"/>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120" dirty="0">
                <a:solidFill>
                  <a:srgbClr val="EDEDF8"/>
                </a:solidFill>
                <a:latin typeface="Arial" pitchFamily="34" charset="0"/>
                <a:ea typeface="Arial" pitchFamily="34" charset="-122"/>
                <a:cs typeface="Arial" pitchFamily="34" charset="-120"/>
              </a:rPr>
              <a:t>The path to $10M ARR starts with three pilots.</a:t>
            </a:r>
            <a:endParaRPr lang="en-US" sz="4800" dirty="0"/>
          </a:p>
        </p:txBody>
      </p:sp>
      <p:sp>
        <p:nvSpPr>
          <p:cNvPr id="7" name="Shape 5"/>
          <p:cNvSpPr/>
          <p:nvPr/>
        </p:nvSpPr>
        <p:spPr>
          <a:xfrm>
            <a:off x="15498825" y="1469745"/>
            <a:ext cx="609519" cy="609519"/>
          </a:xfrm>
          <a:prstGeom prst="roundRect">
            <a:avLst>
              <a:gd name="adj" fmla="val 28129"/>
            </a:avLst>
          </a:prstGeom>
          <a:solidFill>
            <a:srgbClr val="5E6AD2"/>
          </a:solidFill>
          <a:ln/>
          <a:effectLst>
            <a:outerShdw blurRad="228600" dist="50800" dir="16200000" algn="bl" rotWithShape="0">
              <a:srgbClr val="5E6AD2">
                <a:alpha val="45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5651171" y="1622091"/>
            <a:ext cx="304692" cy="304692"/>
          </a:xfrm>
          <a:prstGeom prst="rect">
            <a:avLst/>
          </a:prstGeom>
        </p:spPr>
      </p:pic>
      <p:sp>
        <p:nvSpPr>
          <p:cNvPr id="9" name="Text 6"/>
          <p:cNvSpPr/>
          <p:nvPr/>
        </p:nvSpPr>
        <p:spPr>
          <a:xfrm>
            <a:off x="16279767" y="1527653"/>
            <a:ext cx="1131933" cy="531668"/>
          </a:xfrm>
          <a:prstGeom prst="rect">
            <a:avLst/>
          </a:prstGeom>
          <a:noFill/>
          <a:ln/>
        </p:spPr>
        <p:txBody>
          <a:bodyPr wrap="square" lIns="25400" tIns="25400" rIns="25400" bIns="25400" rtlCol="0" anchor="t">
            <a:normAutofit/>
          </a:bodyPr>
          <a:lstStyle/>
          <a:p>
            <a:pPr marL="0" indent="0" algn="l">
              <a:buNone/>
            </a:pPr>
            <a:r>
              <a:rPr lang="en-US" sz="3150" b="1" kern="0" spc="-63" dirty="0">
                <a:solidFill>
                  <a:srgbClr val="EDEDF8"/>
                </a:solidFill>
                <a:latin typeface="Arial" pitchFamily="34" charset="0"/>
                <a:ea typeface="Arial" pitchFamily="34" charset="-122"/>
                <a:cs typeface="Arial" pitchFamily="34" charset="-120"/>
              </a:rPr>
              <a:t>prism</a:t>
            </a:r>
            <a:endParaRPr lang="en-US" sz="3150" dirty="0"/>
          </a:p>
        </p:txBody>
      </p:sp>
      <p:sp>
        <p:nvSpPr>
          <p:cNvPr id="10" name="Text 7"/>
          <p:cNvSpPr/>
          <p:nvPr/>
        </p:nvSpPr>
        <p:spPr>
          <a:xfrm>
            <a:off x="952500" y="3187087"/>
            <a:ext cx="8241030"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REVENUE TRAJECTORY</a:t>
            </a:r>
            <a:endParaRPr lang="en-US" sz="1800" dirty="0"/>
          </a:p>
        </p:txBody>
      </p:sp>
      <p:sp>
        <p:nvSpPr>
          <p:cNvPr id="11" name="Shape 8"/>
          <p:cNvSpPr/>
          <p:nvPr/>
        </p:nvSpPr>
        <p:spPr>
          <a:xfrm>
            <a:off x="952500" y="3756692"/>
            <a:ext cx="8001000" cy="2839370"/>
          </a:xfrm>
          <a:prstGeom prst="roundRect">
            <a:avLst>
              <a:gd name="adj" fmla="val 3355"/>
            </a:avLst>
          </a:prstGeom>
          <a:ln w="8659">
            <a:solidFill>
              <a:srgbClr val="FFFFFF">
                <a:alpha val="6000"/>
              </a:srgbClr>
            </a:solidFill>
            <a:prstDash val="solid"/>
          </a:ln>
        </p:spPr>
        <p:txBody>
          <a:bodyPr/>
          <a:lstStyle/>
          <a:p>
            <a:endParaRPr lang="en-US"/>
          </a:p>
        </p:txBody>
      </p:sp>
      <p:sp>
        <p:nvSpPr>
          <p:cNvPr id="12" name="Shape 9"/>
          <p:cNvSpPr/>
          <p:nvPr/>
        </p:nvSpPr>
        <p:spPr>
          <a:xfrm>
            <a:off x="961159" y="3765352"/>
            <a:ext cx="7983681" cy="543629"/>
          </a:xfrm>
          <a:prstGeom prst="rect">
            <a:avLst/>
          </a:prstGeom>
          <a:solidFill>
            <a:srgbClr val="FFFFFF">
              <a:alpha val="3000"/>
            </a:srgbClr>
          </a:solidFill>
          <a:ln/>
        </p:spPr>
        <p:txBody>
          <a:bodyPr/>
          <a:lstStyle/>
          <a:p>
            <a:endParaRPr lang="en-US"/>
          </a:p>
        </p:txBody>
      </p:sp>
      <p:sp>
        <p:nvSpPr>
          <p:cNvPr id="13" name="Shape 10"/>
          <p:cNvSpPr/>
          <p:nvPr/>
        </p:nvSpPr>
        <p:spPr>
          <a:xfrm>
            <a:off x="961159" y="4300321"/>
            <a:ext cx="7983681" cy="9525"/>
          </a:xfrm>
          <a:prstGeom prst="rect">
            <a:avLst/>
          </a:prstGeom>
          <a:solidFill>
            <a:srgbClr val="FFFFFF">
              <a:alpha val="6000"/>
            </a:srgbClr>
          </a:solidFill>
          <a:ln/>
        </p:spPr>
        <p:txBody>
          <a:bodyPr/>
          <a:lstStyle/>
          <a:p>
            <a:endParaRPr lang="en-US"/>
          </a:p>
        </p:txBody>
      </p:sp>
      <p:sp>
        <p:nvSpPr>
          <p:cNvPr id="14" name="Text 11"/>
          <p:cNvSpPr/>
          <p:nvPr/>
        </p:nvSpPr>
        <p:spPr>
          <a:xfrm>
            <a:off x="1132609" y="3898702"/>
            <a:ext cx="495300" cy="306369"/>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Year</a:t>
            </a:r>
            <a:endParaRPr lang="en-US" sz="1800" dirty="0"/>
          </a:p>
        </p:txBody>
      </p:sp>
      <p:sp>
        <p:nvSpPr>
          <p:cNvPr id="15" name="Text 12"/>
          <p:cNvSpPr/>
          <p:nvPr/>
        </p:nvSpPr>
        <p:spPr>
          <a:xfrm>
            <a:off x="1894609" y="3898702"/>
            <a:ext cx="3376266" cy="306369"/>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Customers</a:t>
            </a:r>
            <a:endParaRPr lang="en-US" sz="1800" dirty="0"/>
          </a:p>
        </p:txBody>
      </p:sp>
      <p:sp>
        <p:nvSpPr>
          <p:cNvPr id="16" name="Text 13"/>
          <p:cNvSpPr/>
          <p:nvPr/>
        </p:nvSpPr>
        <p:spPr>
          <a:xfrm>
            <a:off x="5505450" y="3898702"/>
            <a:ext cx="3376266" cy="306369"/>
          </a:xfrm>
          <a:prstGeom prst="rect">
            <a:avLst/>
          </a:prstGeom>
          <a:noFill/>
          <a:ln/>
        </p:spPr>
        <p:txBody>
          <a:bodyPr wrap="square" lIns="25400" tIns="25400" rIns="25400" bIns="25400" rtlCol="0" anchor="t">
            <a:normAutofit/>
          </a:bodyPr>
          <a:lstStyle/>
          <a:p>
            <a:pPr marL="0" indent="0" algn="l">
              <a:buNone/>
            </a:pPr>
            <a:r>
              <a:rPr lang="en-US" sz="1800" dirty="0">
                <a:solidFill>
                  <a:srgbClr val="42425A"/>
                </a:solidFill>
                <a:latin typeface="Arial" pitchFamily="34" charset="0"/>
                <a:ea typeface="Arial" pitchFamily="34" charset="-122"/>
                <a:cs typeface="Arial" pitchFamily="34" charset="-120"/>
              </a:rPr>
              <a:t>ARR</a:t>
            </a:r>
            <a:endParaRPr lang="en-US" sz="1800" dirty="0"/>
          </a:p>
        </p:txBody>
      </p:sp>
      <p:sp>
        <p:nvSpPr>
          <p:cNvPr id="17" name="Shape 14"/>
          <p:cNvSpPr/>
          <p:nvPr/>
        </p:nvSpPr>
        <p:spPr>
          <a:xfrm>
            <a:off x="961159" y="4861268"/>
            <a:ext cx="7983681" cy="9525"/>
          </a:xfrm>
          <a:prstGeom prst="rect">
            <a:avLst/>
          </a:prstGeom>
          <a:solidFill>
            <a:srgbClr val="FFFFFF">
              <a:alpha val="6000"/>
            </a:srgbClr>
          </a:solidFill>
          <a:ln/>
        </p:spPr>
        <p:txBody>
          <a:bodyPr/>
          <a:lstStyle/>
          <a:p>
            <a:endParaRPr lang="en-US"/>
          </a:p>
        </p:txBody>
      </p:sp>
      <p:sp>
        <p:nvSpPr>
          <p:cNvPr id="18" name="Text 15"/>
          <p:cNvSpPr/>
          <p:nvPr/>
        </p:nvSpPr>
        <p:spPr>
          <a:xfrm>
            <a:off x="1132609" y="4442330"/>
            <a:ext cx="495300" cy="323688"/>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Y1</a:t>
            </a:r>
            <a:endParaRPr lang="en-US" sz="1950" dirty="0"/>
          </a:p>
        </p:txBody>
      </p:sp>
      <p:sp>
        <p:nvSpPr>
          <p:cNvPr id="19" name="Text 16"/>
          <p:cNvSpPr/>
          <p:nvPr/>
        </p:nvSpPr>
        <p:spPr>
          <a:xfrm>
            <a:off x="1894609" y="4442330"/>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3–5 pilots</a:t>
            </a:r>
            <a:endParaRPr lang="en-US" sz="1950" dirty="0"/>
          </a:p>
        </p:txBody>
      </p:sp>
      <p:sp>
        <p:nvSpPr>
          <p:cNvPr id="20" name="Text 17"/>
          <p:cNvSpPr/>
          <p:nvPr/>
        </p:nvSpPr>
        <p:spPr>
          <a:xfrm>
            <a:off x="5505450" y="4442330"/>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$150K–$250K</a:t>
            </a:r>
            <a:endParaRPr lang="en-US" sz="1950" dirty="0"/>
          </a:p>
        </p:txBody>
      </p:sp>
      <p:sp>
        <p:nvSpPr>
          <p:cNvPr id="21" name="Shape 18"/>
          <p:cNvSpPr/>
          <p:nvPr/>
        </p:nvSpPr>
        <p:spPr>
          <a:xfrm>
            <a:off x="961159" y="5422214"/>
            <a:ext cx="7983681" cy="9525"/>
          </a:xfrm>
          <a:prstGeom prst="rect">
            <a:avLst/>
          </a:prstGeom>
          <a:solidFill>
            <a:srgbClr val="FFFFFF">
              <a:alpha val="6000"/>
            </a:srgbClr>
          </a:solidFill>
          <a:ln/>
        </p:spPr>
        <p:txBody>
          <a:bodyPr/>
          <a:lstStyle/>
          <a:p>
            <a:endParaRPr lang="en-US"/>
          </a:p>
        </p:txBody>
      </p:sp>
      <p:sp>
        <p:nvSpPr>
          <p:cNvPr id="22" name="Text 19"/>
          <p:cNvSpPr/>
          <p:nvPr/>
        </p:nvSpPr>
        <p:spPr>
          <a:xfrm>
            <a:off x="1132609" y="5003277"/>
            <a:ext cx="495300" cy="323688"/>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Y2</a:t>
            </a:r>
            <a:endParaRPr lang="en-US" sz="1950" dirty="0"/>
          </a:p>
        </p:txBody>
      </p:sp>
      <p:sp>
        <p:nvSpPr>
          <p:cNvPr id="23" name="Text 20"/>
          <p:cNvSpPr/>
          <p:nvPr/>
        </p:nvSpPr>
        <p:spPr>
          <a:xfrm>
            <a:off x="1894609" y="5003277"/>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10–20</a:t>
            </a:r>
            <a:endParaRPr lang="en-US" sz="1950" dirty="0"/>
          </a:p>
        </p:txBody>
      </p:sp>
      <p:sp>
        <p:nvSpPr>
          <p:cNvPr id="24" name="Text 21"/>
          <p:cNvSpPr/>
          <p:nvPr/>
        </p:nvSpPr>
        <p:spPr>
          <a:xfrm>
            <a:off x="5505450" y="5003277"/>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$800K–$1.6M</a:t>
            </a:r>
            <a:endParaRPr lang="en-US" sz="1950" dirty="0"/>
          </a:p>
        </p:txBody>
      </p:sp>
      <p:sp>
        <p:nvSpPr>
          <p:cNvPr id="25" name="Shape 22"/>
          <p:cNvSpPr/>
          <p:nvPr/>
        </p:nvSpPr>
        <p:spPr>
          <a:xfrm>
            <a:off x="961159" y="5983161"/>
            <a:ext cx="7983681" cy="9525"/>
          </a:xfrm>
          <a:prstGeom prst="rect">
            <a:avLst/>
          </a:prstGeom>
          <a:solidFill>
            <a:srgbClr val="FFFFFF">
              <a:alpha val="6000"/>
            </a:srgbClr>
          </a:solidFill>
          <a:ln/>
        </p:spPr>
        <p:txBody>
          <a:bodyPr/>
          <a:lstStyle/>
          <a:p>
            <a:endParaRPr lang="en-US"/>
          </a:p>
        </p:txBody>
      </p:sp>
      <p:sp>
        <p:nvSpPr>
          <p:cNvPr id="26" name="Text 23"/>
          <p:cNvSpPr/>
          <p:nvPr/>
        </p:nvSpPr>
        <p:spPr>
          <a:xfrm>
            <a:off x="1132609" y="5564223"/>
            <a:ext cx="495300" cy="323688"/>
          </a:xfrm>
          <a:prstGeom prst="rect">
            <a:avLst/>
          </a:prstGeom>
          <a:noFill/>
          <a:ln/>
        </p:spPr>
        <p:txBody>
          <a:bodyPr wrap="square" lIns="25400" tIns="25400" rIns="25400" bIns="25400" rtlCol="0" anchor="t">
            <a:normAutofit/>
          </a:bodyPr>
          <a:lstStyle/>
          <a:p>
            <a:pPr marL="0" indent="0" algn="l">
              <a:buNone/>
            </a:pPr>
            <a:r>
              <a:rPr lang="en-US" sz="1950" dirty="0">
                <a:solidFill>
                  <a:srgbClr val="8888A8"/>
                </a:solidFill>
                <a:latin typeface="Arial" pitchFamily="34" charset="0"/>
                <a:ea typeface="Arial" pitchFamily="34" charset="-122"/>
                <a:cs typeface="Arial" pitchFamily="34" charset="-120"/>
              </a:rPr>
              <a:t>Y3</a:t>
            </a:r>
            <a:endParaRPr lang="en-US" sz="1950" dirty="0"/>
          </a:p>
        </p:txBody>
      </p:sp>
      <p:sp>
        <p:nvSpPr>
          <p:cNvPr id="27" name="Text 24"/>
          <p:cNvSpPr/>
          <p:nvPr/>
        </p:nvSpPr>
        <p:spPr>
          <a:xfrm>
            <a:off x="1894609" y="5564223"/>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30–50</a:t>
            </a:r>
            <a:endParaRPr lang="en-US" sz="1950" dirty="0"/>
          </a:p>
        </p:txBody>
      </p:sp>
      <p:sp>
        <p:nvSpPr>
          <p:cNvPr id="28" name="Text 25"/>
          <p:cNvSpPr/>
          <p:nvPr/>
        </p:nvSpPr>
        <p:spPr>
          <a:xfrm>
            <a:off x="5505450" y="5564223"/>
            <a:ext cx="3376266" cy="323688"/>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$3M–$5M</a:t>
            </a:r>
            <a:endParaRPr lang="en-US" sz="1950" dirty="0"/>
          </a:p>
        </p:txBody>
      </p:sp>
      <p:sp>
        <p:nvSpPr>
          <p:cNvPr id="29" name="Shape 26"/>
          <p:cNvSpPr/>
          <p:nvPr/>
        </p:nvSpPr>
        <p:spPr>
          <a:xfrm>
            <a:off x="961159" y="5991820"/>
            <a:ext cx="7983681" cy="595583"/>
          </a:xfrm>
          <a:prstGeom prst="rect">
            <a:avLst/>
          </a:prstGeom>
          <a:solidFill>
            <a:srgbClr val="5E6AD2">
              <a:alpha val="7000"/>
            </a:srgbClr>
          </a:solidFill>
          <a:ln/>
        </p:spPr>
        <p:txBody>
          <a:bodyPr/>
          <a:lstStyle/>
          <a:p>
            <a:endParaRPr lang="en-US"/>
          </a:p>
        </p:txBody>
      </p:sp>
      <p:sp>
        <p:nvSpPr>
          <p:cNvPr id="30" name="Text 27"/>
          <p:cNvSpPr/>
          <p:nvPr/>
        </p:nvSpPr>
        <p:spPr>
          <a:xfrm>
            <a:off x="1132609" y="6125170"/>
            <a:ext cx="495300" cy="366983"/>
          </a:xfrm>
          <a:prstGeom prst="rect">
            <a:avLst/>
          </a:prstGeom>
          <a:noFill/>
          <a:ln/>
        </p:spPr>
        <p:txBody>
          <a:bodyPr wrap="square" lIns="25400" tIns="25400" rIns="25400" bIns="25400" rtlCol="0" anchor="t">
            <a:normAutofit/>
          </a:bodyPr>
          <a:lstStyle/>
          <a:p>
            <a:pPr marL="0" indent="0" algn="l">
              <a:buNone/>
            </a:pPr>
            <a:r>
              <a:rPr lang="en-US" sz="1950" dirty="0">
                <a:solidFill>
                  <a:srgbClr val="5E6AD2"/>
                </a:solidFill>
                <a:latin typeface="Arial" pitchFamily="34" charset="0"/>
                <a:ea typeface="Arial" pitchFamily="34" charset="-122"/>
                <a:cs typeface="Arial" pitchFamily="34" charset="-120"/>
              </a:rPr>
              <a:t>Y4</a:t>
            </a:r>
            <a:endParaRPr lang="en-US" sz="1950" dirty="0"/>
          </a:p>
        </p:txBody>
      </p:sp>
      <p:sp>
        <p:nvSpPr>
          <p:cNvPr id="31" name="Text 28"/>
          <p:cNvSpPr/>
          <p:nvPr/>
        </p:nvSpPr>
        <p:spPr>
          <a:xfrm>
            <a:off x="1894609" y="6125170"/>
            <a:ext cx="3376266" cy="366983"/>
          </a:xfrm>
          <a:prstGeom prst="rect">
            <a:avLst/>
          </a:prstGeom>
          <a:noFill/>
          <a:ln/>
        </p:spPr>
        <p:txBody>
          <a:bodyPr wrap="square" lIns="25400" tIns="25400" rIns="25400" bIns="25400" rtlCol="0" anchor="t">
            <a:normAutofit/>
          </a:bodyPr>
          <a:lstStyle/>
          <a:p>
            <a:pPr marL="0" indent="0" algn="l">
              <a:buNone/>
            </a:pPr>
            <a:r>
              <a:rPr lang="en-US" sz="1950" dirty="0">
                <a:solidFill>
                  <a:srgbClr val="EDEDF8"/>
                </a:solidFill>
                <a:latin typeface="Arial" pitchFamily="34" charset="0"/>
                <a:ea typeface="Arial" pitchFamily="34" charset="-122"/>
                <a:cs typeface="Arial" pitchFamily="34" charset="-120"/>
              </a:rPr>
              <a:t>80–120</a:t>
            </a:r>
            <a:endParaRPr lang="en-US" sz="1950" dirty="0"/>
          </a:p>
        </p:txBody>
      </p:sp>
      <p:sp>
        <p:nvSpPr>
          <p:cNvPr id="32" name="Text 29"/>
          <p:cNvSpPr/>
          <p:nvPr/>
        </p:nvSpPr>
        <p:spPr>
          <a:xfrm>
            <a:off x="5505450" y="6125170"/>
            <a:ext cx="3376266" cy="366983"/>
          </a:xfrm>
          <a:prstGeom prst="rect">
            <a:avLst/>
          </a:prstGeom>
          <a:noFill/>
          <a:ln/>
        </p:spPr>
        <p:txBody>
          <a:bodyPr wrap="square" lIns="25400" tIns="25400" rIns="25400" bIns="25400" rtlCol="0" anchor="t">
            <a:normAutofit/>
          </a:bodyPr>
          <a:lstStyle/>
          <a:p>
            <a:pPr marL="0" indent="0" algn="l">
              <a:buNone/>
            </a:pPr>
            <a:r>
              <a:rPr lang="en-US" sz="1950" b="1" dirty="0">
                <a:solidFill>
                  <a:srgbClr val="7170FF"/>
                </a:solidFill>
                <a:latin typeface="Arial" pitchFamily="34" charset="0"/>
                <a:ea typeface="Arial" pitchFamily="34" charset="-122"/>
                <a:cs typeface="Arial" pitchFamily="34" charset="-120"/>
              </a:rPr>
              <a:t>$9.6M–$14.4M</a:t>
            </a:r>
            <a:endParaRPr lang="en-US" sz="1950" dirty="0"/>
          </a:p>
        </p:txBody>
      </p:sp>
      <p:sp>
        <p:nvSpPr>
          <p:cNvPr id="33" name="Shape 30"/>
          <p:cNvSpPr/>
          <p:nvPr/>
        </p:nvSpPr>
        <p:spPr>
          <a:xfrm>
            <a:off x="952500" y="6824581"/>
            <a:ext cx="8001000" cy="1394520"/>
          </a:xfrm>
          <a:prstGeom prst="roundRect">
            <a:avLst>
              <a:gd name="adj" fmla="val 6830"/>
            </a:avLst>
          </a:prstGeom>
          <a:solidFill>
            <a:srgbClr val="111118"/>
          </a:solidFill>
          <a:ln/>
        </p:spPr>
        <p:txBody>
          <a:bodyPr/>
          <a:lstStyle/>
          <a:p>
            <a:endParaRPr lang="en-US"/>
          </a:p>
        </p:txBody>
      </p:sp>
      <p:sp>
        <p:nvSpPr>
          <p:cNvPr id="34" name="Shape 31"/>
          <p:cNvSpPr/>
          <p:nvPr/>
        </p:nvSpPr>
        <p:spPr>
          <a:xfrm>
            <a:off x="952500" y="8210442"/>
            <a:ext cx="8001000" cy="9525"/>
          </a:xfrm>
          <a:prstGeom prst="rect">
            <a:avLst/>
          </a:prstGeom>
          <a:solidFill>
            <a:srgbClr val="FFFFFF">
              <a:alpha val="6000"/>
            </a:srgbClr>
          </a:solidFill>
          <a:ln/>
        </p:spPr>
        <p:txBody>
          <a:bodyPr/>
          <a:lstStyle/>
          <a:p>
            <a:endParaRPr lang="en-US"/>
          </a:p>
        </p:txBody>
      </p:sp>
      <p:sp>
        <p:nvSpPr>
          <p:cNvPr id="35" name="Shape 32"/>
          <p:cNvSpPr/>
          <p:nvPr/>
        </p:nvSpPr>
        <p:spPr>
          <a:xfrm>
            <a:off x="952500" y="6824581"/>
            <a:ext cx="8001000" cy="9525"/>
          </a:xfrm>
          <a:prstGeom prst="rect">
            <a:avLst/>
          </a:prstGeom>
          <a:solidFill>
            <a:srgbClr val="FFFFFF">
              <a:alpha val="6000"/>
            </a:srgbClr>
          </a:solidFill>
          <a:ln/>
        </p:spPr>
        <p:txBody>
          <a:bodyPr/>
          <a:lstStyle/>
          <a:p>
            <a:endParaRPr lang="en-US"/>
          </a:p>
        </p:txBody>
      </p:sp>
      <p:sp>
        <p:nvSpPr>
          <p:cNvPr id="36" name="Shape 33"/>
          <p:cNvSpPr/>
          <p:nvPr/>
        </p:nvSpPr>
        <p:spPr>
          <a:xfrm>
            <a:off x="952500" y="6824581"/>
            <a:ext cx="25977" cy="1394520"/>
          </a:xfrm>
          <a:prstGeom prst="rect">
            <a:avLst/>
          </a:prstGeom>
          <a:solidFill>
            <a:srgbClr val="5E6AD2"/>
          </a:solidFill>
          <a:ln/>
        </p:spPr>
        <p:txBody>
          <a:bodyPr/>
          <a:lstStyle/>
          <a:p>
            <a:endParaRPr lang="en-US"/>
          </a:p>
        </p:txBody>
      </p:sp>
      <p:sp>
        <p:nvSpPr>
          <p:cNvPr id="37" name="Shape 34"/>
          <p:cNvSpPr/>
          <p:nvPr/>
        </p:nvSpPr>
        <p:spPr>
          <a:xfrm>
            <a:off x="8944841" y="6824581"/>
            <a:ext cx="9525" cy="1394520"/>
          </a:xfrm>
          <a:prstGeom prst="rect">
            <a:avLst/>
          </a:prstGeom>
          <a:solidFill>
            <a:srgbClr val="FFFFFF">
              <a:alpha val="6000"/>
            </a:srgbClr>
          </a:solidFill>
          <a:ln/>
        </p:spPr>
        <p:txBody>
          <a:bodyPr/>
          <a:lstStyle/>
          <a:p>
            <a:endParaRPr lang="en-US"/>
          </a:p>
        </p:txBody>
      </p:sp>
      <p:sp>
        <p:nvSpPr>
          <p:cNvPr id="38" name="Text 35"/>
          <p:cNvSpPr/>
          <p:nvPr/>
        </p:nvSpPr>
        <p:spPr>
          <a:xfrm>
            <a:off x="1283169" y="7099913"/>
            <a:ext cx="7577689" cy="464696"/>
          </a:xfrm>
          <a:prstGeom prst="rect">
            <a:avLst/>
          </a:prstGeom>
          <a:noFill/>
          <a:ln/>
        </p:spPr>
        <p:txBody>
          <a:bodyPr wrap="square" lIns="25400" tIns="25400" rIns="25400" bIns="25400" rtlCol="0" anchor="t">
            <a:normAutofit/>
          </a:bodyPr>
          <a:lstStyle/>
          <a:p>
            <a:pPr marL="0" indent="0" algn="l">
              <a:lnSpc>
                <a:spcPct val="160000"/>
              </a:lnSpc>
              <a:buNone/>
            </a:pPr>
            <a:r>
              <a:rPr lang="en-US" sz="2100" i="1" dirty="0">
                <a:solidFill>
                  <a:srgbClr val="EDEDF8"/>
                </a:solidFill>
                <a:latin typeface="-apple-system" pitchFamily="34" charset="0"/>
                <a:ea typeface="-apple-system" pitchFamily="34" charset="-122"/>
                <a:cs typeface="-apple-system" pitchFamily="34" charset="-120"/>
              </a:rPr>
              <a:t>"Your infrastructure speaks. Iris translates."</a:t>
            </a:r>
            <a:endParaRPr lang="en-US" sz="2100" dirty="0"/>
          </a:p>
        </p:txBody>
      </p:sp>
      <p:sp>
        <p:nvSpPr>
          <p:cNvPr id="39" name="Text 36"/>
          <p:cNvSpPr/>
          <p:nvPr/>
        </p:nvSpPr>
        <p:spPr>
          <a:xfrm>
            <a:off x="1283169" y="7640700"/>
            <a:ext cx="7577689"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PRISM · APRIL 2026 · CONFIDENTIAL</a:t>
            </a:r>
            <a:endParaRPr lang="en-US" sz="1800" dirty="0"/>
          </a:p>
        </p:txBody>
      </p:sp>
      <p:sp>
        <p:nvSpPr>
          <p:cNvPr id="40" name="Text 37"/>
          <p:cNvSpPr/>
          <p:nvPr/>
        </p:nvSpPr>
        <p:spPr>
          <a:xfrm>
            <a:off x="9334499" y="3187087"/>
            <a:ext cx="8241030" cy="34116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42425A"/>
                </a:solidFill>
                <a:latin typeface="Arial" pitchFamily="34" charset="0"/>
                <a:ea typeface="Arial" pitchFamily="34" charset="-122"/>
                <a:cs typeface="Arial" pitchFamily="34" charset="-120"/>
              </a:rPr>
              <a:t>PRICING</a:t>
            </a:r>
            <a:endParaRPr lang="en-US" sz="1800" dirty="0"/>
          </a:p>
        </p:txBody>
      </p:sp>
      <p:sp>
        <p:nvSpPr>
          <p:cNvPr id="41" name="Shape 38"/>
          <p:cNvSpPr/>
          <p:nvPr/>
        </p:nvSpPr>
        <p:spPr>
          <a:xfrm>
            <a:off x="9334499" y="3756692"/>
            <a:ext cx="2565391" cy="2974533"/>
          </a:xfrm>
          <a:prstGeom prst="roundRect">
            <a:avLst>
              <a:gd name="adj" fmla="val 4455"/>
            </a:avLst>
          </a:prstGeom>
          <a:solidFill>
            <a:srgbClr val="111118"/>
          </a:solidFill>
          <a:ln w="8659">
            <a:solidFill>
              <a:srgbClr val="FFFFFF">
                <a:alpha val="6000"/>
              </a:srgbClr>
            </a:solidFill>
            <a:prstDash val="solid"/>
          </a:ln>
        </p:spPr>
        <p:txBody>
          <a:bodyPr/>
          <a:lstStyle/>
          <a:p>
            <a:endParaRPr lang="en-US"/>
          </a:p>
        </p:txBody>
      </p:sp>
      <p:sp>
        <p:nvSpPr>
          <p:cNvPr id="42" name="Text 39"/>
          <p:cNvSpPr/>
          <p:nvPr/>
        </p:nvSpPr>
        <p:spPr>
          <a:xfrm>
            <a:off x="9514501" y="4032024"/>
            <a:ext cx="2205389" cy="332509"/>
          </a:xfrm>
          <a:prstGeom prst="rect">
            <a:avLst/>
          </a:prstGeom>
          <a:noFill/>
          <a:ln/>
        </p:spPr>
        <p:txBody>
          <a:bodyPr wrap="square" lIns="25400" tIns="25400" rIns="25400" bIns="25400" rtlCol="0" anchor="t">
            <a:normAutofit/>
          </a:bodyPr>
          <a:lstStyle/>
          <a:p>
            <a:pPr marL="0" indent="0" algn="ctr">
              <a:buNone/>
            </a:pPr>
            <a:r>
              <a:rPr lang="en-US" sz="1950" b="1" dirty="0">
                <a:solidFill>
                  <a:srgbClr val="8888A8"/>
                </a:solidFill>
                <a:latin typeface="-apple-system" pitchFamily="34" charset="0"/>
                <a:ea typeface="-apple-system" pitchFamily="34" charset="-122"/>
                <a:cs typeface="-apple-system" pitchFamily="34" charset="-120"/>
              </a:rPr>
              <a:t>Starter</a:t>
            </a:r>
            <a:endParaRPr lang="en-US" sz="1950" dirty="0"/>
          </a:p>
        </p:txBody>
      </p:sp>
      <p:sp>
        <p:nvSpPr>
          <p:cNvPr id="43" name="Text 40"/>
          <p:cNvSpPr/>
          <p:nvPr/>
        </p:nvSpPr>
        <p:spPr>
          <a:xfrm>
            <a:off x="9514501" y="4440625"/>
            <a:ext cx="2205389" cy="488373"/>
          </a:xfrm>
          <a:prstGeom prst="rect">
            <a:avLst/>
          </a:prstGeom>
          <a:noFill/>
          <a:ln/>
        </p:spPr>
        <p:txBody>
          <a:bodyPr wrap="square" lIns="25400" tIns="25400" rIns="25400" bIns="25400" rtlCol="0" anchor="t">
            <a:normAutofit/>
          </a:bodyPr>
          <a:lstStyle/>
          <a:p>
            <a:pPr marL="0" indent="0" algn="ctr">
              <a:buNone/>
            </a:pPr>
            <a:r>
              <a:rPr lang="en-US" sz="2700" b="1" dirty="0">
                <a:solidFill>
                  <a:srgbClr val="EDEDF8"/>
                </a:solidFill>
                <a:latin typeface="Arial" pitchFamily="34" charset="0"/>
                <a:ea typeface="Arial" pitchFamily="34" charset="-122"/>
                <a:cs typeface="Arial" pitchFamily="34" charset="-120"/>
              </a:rPr>
              <a:t>$36K</a:t>
            </a:r>
            <a:endParaRPr lang="en-US" sz="2700" dirty="0"/>
          </a:p>
        </p:txBody>
      </p:sp>
      <p:sp>
        <p:nvSpPr>
          <p:cNvPr id="44" name="Text 41"/>
          <p:cNvSpPr/>
          <p:nvPr/>
        </p:nvSpPr>
        <p:spPr>
          <a:xfrm>
            <a:off x="9514501" y="4928917"/>
            <a:ext cx="2205389" cy="315191"/>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pple-system" pitchFamily="34" charset="0"/>
                <a:ea typeface="-apple-system" pitchFamily="34" charset="-122"/>
                <a:cs typeface="-apple-system" pitchFamily="34" charset="-120"/>
              </a:rPr>
              <a:t>$3K / month</a:t>
            </a:r>
            <a:endParaRPr lang="en-US" sz="1800" dirty="0"/>
          </a:p>
        </p:txBody>
      </p:sp>
      <p:sp>
        <p:nvSpPr>
          <p:cNvPr id="45" name="Text 42"/>
          <p:cNvSpPr/>
          <p:nvPr/>
        </p:nvSpPr>
        <p:spPr>
          <a:xfrm>
            <a:off x="9514501" y="5358354"/>
            <a:ext cx="2205389" cy="1135640"/>
          </a:xfrm>
          <a:prstGeom prst="rect">
            <a:avLst/>
          </a:prstGeom>
          <a:noFill/>
          <a:ln/>
        </p:spPr>
        <p:txBody>
          <a:bodyPr wrap="square" lIns="25400" tIns="25400" rIns="25400" bIns="25400" rtlCol="0" anchor="t">
            <a:normAutofit/>
          </a:bodyPr>
          <a:lstStyle/>
          <a:p>
            <a:pPr marL="0" indent="0" algn="ctr">
              <a:lnSpc>
                <a:spcPct val="160000"/>
              </a:lnSpc>
              <a:buNone/>
            </a:pPr>
            <a:r>
              <a:rPr lang="en-US" sz="1800" dirty="0">
                <a:solidFill>
                  <a:srgbClr val="8888A8"/>
                </a:solidFill>
                <a:latin typeface="-apple-system" pitchFamily="34" charset="0"/>
                <a:ea typeface="-apple-system" pitchFamily="34" charset="-122"/>
                <a:cs typeface="-apple-system" pitchFamily="34" charset="-120"/>
              </a:rPr>
              <a:t>Up to 5 platforms 3 core modules 10 docs/mo</a:t>
            </a:r>
            <a:endParaRPr lang="en-US" sz="1800" dirty="0"/>
          </a:p>
        </p:txBody>
      </p:sp>
      <p:sp>
        <p:nvSpPr>
          <p:cNvPr id="46" name="Shape 43"/>
          <p:cNvSpPr/>
          <p:nvPr/>
        </p:nvSpPr>
        <p:spPr>
          <a:xfrm>
            <a:off x="12052236" y="3756692"/>
            <a:ext cx="2565391" cy="2974533"/>
          </a:xfrm>
          <a:prstGeom prst="roundRect">
            <a:avLst>
              <a:gd name="adj" fmla="val 4455"/>
            </a:avLst>
          </a:prstGeom>
          <a:solidFill>
            <a:srgbClr val="111118"/>
          </a:solidFill>
          <a:ln w="8659">
            <a:solidFill>
              <a:srgbClr val="5E6AD2">
                <a:alpha val="40000"/>
              </a:srgbClr>
            </a:solidFill>
            <a:prstDash val="solid"/>
          </a:ln>
          <a:effectLst>
            <a:outerShdw blurRad="228600" dist="50800" dir="16200000" algn="bl" rotWithShape="0">
              <a:srgbClr val="5E6AD2">
                <a:alpha val="15000"/>
              </a:srgbClr>
            </a:outerShdw>
          </a:effectLst>
        </p:spPr>
        <p:txBody>
          <a:bodyPr/>
          <a:lstStyle/>
          <a:p>
            <a:endParaRPr lang="en-US"/>
          </a:p>
        </p:txBody>
      </p:sp>
      <p:sp>
        <p:nvSpPr>
          <p:cNvPr id="47" name="Text 44"/>
          <p:cNvSpPr/>
          <p:nvPr/>
        </p:nvSpPr>
        <p:spPr>
          <a:xfrm>
            <a:off x="12232237" y="4032024"/>
            <a:ext cx="2205389" cy="332509"/>
          </a:xfrm>
          <a:prstGeom prst="rect">
            <a:avLst/>
          </a:prstGeom>
          <a:noFill/>
          <a:ln/>
        </p:spPr>
        <p:txBody>
          <a:bodyPr wrap="square" lIns="25400" tIns="25400" rIns="25400" bIns="25400" rtlCol="0" anchor="t">
            <a:normAutofit/>
          </a:bodyPr>
          <a:lstStyle/>
          <a:p>
            <a:pPr marL="0" indent="0" algn="ctr">
              <a:buNone/>
            </a:pPr>
            <a:r>
              <a:rPr lang="en-US" sz="1950" b="1" dirty="0">
                <a:solidFill>
                  <a:srgbClr val="7170FF"/>
                </a:solidFill>
                <a:latin typeface="-apple-system" pitchFamily="34" charset="0"/>
                <a:ea typeface="-apple-system" pitchFamily="34" charset="-122"/>
                <a:cs typeface="-apple-system" pitchFamily="34" charset="-120"/>
              </a:rPr>
              <a:t>Professional</a:t>
            </a:r>
            <a:endParaRPr lang="en-US" sz="1950" dirty="0"/>
          </a:p>
        </p:txBody>
      </p:sp>
      <p:sp>
        <p:nvSpPr>
          <p:cNvPr id="48" name="Text 45"/>
          <p:cNvSpPr/>
          <p:nvPr/>
        </p:nvSpPr>
        <p:spPr>
          <a:xfrm>
            <a:off x="12232237" y="4440625"/>
            <a:ext cx="2205389" cy="488373"/>
          </a:xfrm>
          <a:prstGeom prst="rect">
            <a:avLst/>
          </a:prstGeom>
          <a:noFill/>
          <a:ln/>
        </p:spPr>
        <p:txBody>
          <a:bodyPr wrap="square" lIns="25400" tIns="25400" rIns="25400" bIns="25400" rtlCol="0" anchor="t">
            <a:normAutofit/>
          </a:bodyPr>
          <a:lstStyle/>
          <a:p>
            <a:pPr marL="0" indent="0" algn="ctr">
              <a:buNone/>
            </a:pPr>
            <a:r>
              <a:rPr lang="en-US" sz="2700" b="1" dirty="0">
                <a:solidFill>
                  <a:srgbClr val="EDEDF8"/>
                </a:solidFill>
                <a:latin typeface="Arial" pitchFamily="34" charset="0"/>
                <a:ea typeface="Arial" pitchFamily="34" charset="-122"/>
                <a:cs typeface="Arial" pitchFamily="34" charset="-120"/>
              </a:rPr>
              <a:t>$96K</a:t>
            </a:r>
            <a:endParaRPr lang="en-US" sz="2700" dirty="0"/>
          </a:p>
        </p:txBody>
      </p:sp>
      <p:sp>
        <p:nvSpPr>
          <p:cNvPr id="49" name="Text 46"/>
          <p:cNvSpPr/>
          <p:nvPr/>
        </p:nvSpPr>
        <p:spPr>
          <a:xfrm>
            <a:off x="12232237" y="4928917"/>
            <a:ext cx="2205389" cy="315191"/>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pple-system" pitchFamily="34" charset="0"/>
                <a:ea typeface="-apple-system" pitchFamily="34" charset="-122"/>
                <a:cs typeface="-apple-system" pitchFamily="34" charset="-120"/>
              </a:rPr>
              <a:t>$8K / month</a:t>
            </a:r>
            <a:endParaRPr lang="en-US" sz="1800" dirty="0"/>
          </a:p>
        </p:txBody>
      </p:sp>
      <p:sp>
        <p:nvSpPr>
          <p:cNvPr id="50" name="Text 47"/>
          <p:cNvSpPr/>
          <p:nvPr/>
        </p:nvSpPr>
        <p:spPr>
          <a:xfrm>
            <a:off x="12232237" y="5358354"/>
            <a:ext cx="2205389" cy="1135640"/>
          </a:xfrm>
          <a:prstGeom prst="rect">
            <a:avLst/>
          </a:prstGeom>
          <a:noFill/>
          <a:ln/>
        </p:spPr>
        <p:txBody>
          <a:bodyPr wrap="square" lIns="25400" tIns="25400" rIns="25400" bIns="25400" rtlCol="0" anchor="t">
            <a:normAutofit/>
          </a:bodyPr>
          <a:lstStyle/>
          <a:p>
            <a:pPr marL="0" indent="0" algn="ctr">
              <a:lnSpc>
                <a:spcPct val="160000"/>
              </a:lnSpc>
              <a:buNone/>
            </a:pPr>
            <a:r>
              <a:rPr lang="en-US" sz="1800" dirty="0">
                <a:solidFill>
                  <a:srgbClr val="8888A8"/>
                </a:solidFill>
                <a:latin typeface="-apple-system" pitchFamily="34" charset="0"/>
                <a:ea typeface="-apple-system" pitchFamily="34" charset="-122"/>
                <a:cs typeface="-apple-system" pitchFamily="34" charset="-120"/>
              </a:rPr>
              <a:t>Up to 15 platforms All modules 100 docs/mo</a:t>
            </a:r>
            <a:endParaRPr lang="en-US" sz="1800" dirty="0"/>
          </a:p>
        </p:txBody>
      </p:sp>
      <p:sp>
        <p:nvSpPr>
          <p:cNvPr id="51" name="Shape 48"/>
          <p:cNvSpPr/>
          <p:nvPr/>
        </p:nvSpPr>
        <p:spPr>
          <a:xfrm>
            <a:off x="14769973" y="3756692"/>
            <a:ext cx="2565526" cy="2974533"/>
          </a:xfrm>
          <a:prstGeom prst="roundRect">
            <a:avLst>
              <a:gd name="adj" fmla="val 4455"/>
            </a:avLst>
          </a:prstGeom>
          <a:solidFill>
            <a:srgbClr val="111118"/>
          </a:solidFill>
          <a:ln w="8659">
            <a:solidFill>
              <a:srgbClr val="FFFFFF">
                <a:alpha val="6000"/>
              </a:srgbClr>
            </a:solidFill>
            <a:prstDash val="solid"/>
          </a:ln>
        </p:spPr>
        <p:txBody>
          <a:bodyPr/>
          <a:lstStyle/>
          <a:p>
            <a:endParaRPr lang="en-US"/>
          </a:p>
        </p:txBody>
      </p:sp>
      <p:sp>
        <p:nvSpPr>
          <p:cNvPr id="52" name="Text 49"/>
          <p:cNvSpPr/>
          <p:nvPr/>
        </p:nvSpPr>
        <p:spPr>
          <a:xfrm>
            <a:off x="14949974" y="4032024"/>
            <a:ext cx="2205525" cy="332509"/>
          </a:xfrm>
          <a:prstGeom prst="rect">
            <a:avLst/>
          </a:prstGeom>
          <a:noFill/>
          <a:ln/>
        </p:spPr>
        <p:txBody>
          <a:bodyPr wrap="square" lIns="25400" tIns="25400" rIns="25400" bIns="25400" rtlCol="0" anchor="t">
            <a:normAutofit/>
          </a:bodyPr>
          <a:lstStyle/>
          <a:p>
            <a:pPr marL="0" indent="0" algn="ctr">
              <a:buNone/>
            </a:pPr>
            <a:r>
              <a:rPr lang="en-US" sz="1950" b="1" dirty="0">
                <a:solidFill>
                  <a:srgbClr val="8888A8"/>
                </a:solidFill>
                <a:latin typeface="-apple-system" pitchFamily="34" charset="0"/>
                <a:ea typeface="-apple-system" pitchFamily="34" charset="-122"/>
                <a:cs typeface="-apple-system" pitchFamily="34" charset="-120"/>
              </a:rPr>
              <a:t>Enterprise</a:t>
            </a:r>
            <a:endParaRPr lang="en-US" sz="1950" dirty="0"/>
          </a:p>
        </p:txBody>
      </p:sp>
      <p:sp>
        <p:nvSpPr>
          <p:cNvPr id="53" name="Text 50"/>
          <p:cNvSpPr/>
          <p:nvPr/>
        </p:nvSpPr>
        <p:spPr>
          <a:xfrm>
            <a:off x="14949974" y="4440625"/>
            <a:ext cx="2205525" cy="488373"/>
          </a:xfrm>
          <a:prstGeom prst="rect">
            <a:avLst/>
          </a:prstGeom>
          <a:noFill/>
          <a:ln/>
        </p:spPr>
        <p:txBody>
          <a:bodyPr wrap="square" lIns="25400" tIns="25400" rIns="25400" bIns="25400" rtlCol="0" anchor="t">
            <a:normAutofit/>
          </a:bodyPr>
          <a:lstStyle/>
          <a:p>
            <a:pPr marL="0" indent="0" algn="ctr">
              <a:buNone/>
            </a:pPr>
            <a:r>
              <a:rPr lang="en-US" sz="2700" b="1" dirty="0">
                <a:solidFill>
                  <a:srgbClr val="EDEDF8"/>
                </a:solidFill>
                <a:latin typeface="Arial" pitchFamily="34" charset="0"/>
                <a:ea typeface="Arial" pitchFamily="34" charset="-122"/>
                <a:cs typeface="Arial" pitchFamily="34" charset="-120"/>
              </a:rPr>
              <a:t>$180K</a:t>
            </a:r>
            <a:endParaRPr lang="en-US" sz="2700" dirty="0"/>
          </a:p>
        </p:txBody>
      </p:sp>
      <p:sp>
        <p:nvSpPr>
          <p:cNvPr id="54" name="Text 51"/>
          <p:cNvSpPr/>
          <p:nvPr/>
        </p:nvSpPr>
        <p:spPr>
          <a:xfrm>
            <a:off x="14949974" y="4928917"/>
            <a:ext cx="2205525" cy="315191"/>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pple-system" pitchFamily="34" charset="0"/>
                <a:ea typeface="-apple-system" pitchFamily="34" charset="-122"/>
                <a:cs typeface="-apple-system" pitchFamily="34" charset="-120"/>
              </a:rPr>
              <a:t>$15K / month</a:t>
            </a:r>
            <a:endParaRPr lang="en-US" sz="1800" dirty="0"/>
          </a:p>
        </p:txBody>
      </p:sp>
      <p:sp>
        <p:nvSpPr>
          <p:cNvPr id="55" name="Text 52"/>
          <p:cNvSpPr/>
          <p:nvPr/>
        </p:nvSpPr>
        <p:spPr>
          <a:xfrm>
            <a:off x="14949974" y="5358354"/>
            <a:ext cx="2205525" cy="1135640"/>
          </a:xfrm>
          <a:prstGeom prst="rect">
            <a:avLst/>
          </a:prstGeom>
          <a:noFill/>
          <a:ln/>
        </p:spPr>
        <p:txBody>
          <a:bodyPr wrap="square" lIns="25400" tIns="25400" rIns="25400" bIns="25400" rtlCol="0" anchor="t">
            <a:normAutofit/>
          </a:bodyPr>
          <a:lstStyle/>
          <a:p>
            <a:pPr marL="0" indent="0" algn="ctr">
              <a:lnSpc>
                <a:spcPct val="160000"/>
              </a:lnSpc>
              <a:buNone/>
            </a:pPr>
            <a:r>
              <a:rPr lang="en-US" sz="1800" dirty="0">
                <a:solidFill>
                  <a:srgbClr val="8888A8"/>
                </a:solidFill>
                <a:latin typeface="-apple-system" pitchFamily="34" charset="0"/>
                <a:ea typeface="-apple-system" pitchFamily="34" charset="-122"/>
                <a:cs typeface="-apple-system" pitchFamily="34" charset="-120"/>
              </a:rPr>
              <a:t>Unlimited platforms All + Prism LLM 24/7 + CSM</a:t>
            </a:r>
            <a:endParaRPr lang="en-US" sz="1800" dirty="0"/>
          </a:p>
        </p:txBody>
      </p:sp>
      <p:sp>
        <p:nvSpPr>
          <p:cNvPr id="56" name="Shape 53"/>
          <p:cNvSpPr/>
          <p:nvPr/>
        </p:nvSpPr>
        <p:spPr>
          <a:xfrm>
            <a:off x="9334499" y="6959744"/>
            <a:ext cx="8001000" cy="2858988"/>
          </a:xfrm>
          <a:prstGeom prst="roundRect">
            <a:avLst>
              <a:gd name="adj" fmla="val 3998"/>
            </a:avLst>
          </a:prstGeom>
          <a:solidFill>
            <a:srgbClr val="5E6AD2">
              <a:alpha val="15000"/>
            </a:srgbClr>
          </a:solidFill>
          <a:ln w="8659">
            <a:solidFill>
              <a:srgbClr val="5E6AD2">
                <a:alpha val="40000"/>
              </a:srgbClr>
            </a:solidFill>
            <a:prstDash val="solid"/>
          </a:ln>
          <a:effectLst>
            <a:outerShdw blurRad="304800" dist="50800" dir="16200000" algn="bl" rotWithShape="0">
              <a:srgbClr val="5E6AD2">
                <a:alpha val="20000"/>
              </a:srgbClr>
            </a:outerShdw>
          </a:effectLst>
        </p:spPr>
        <p:txBody>
          <a:bodyPr/>
          <a:lstStyle/>
          <a:p>
            <a:endParaRPr lang="en-US"/>
          </a:p>
        </p:txBody>
      </p:sp>
      <p:sp>
        <p:nvSpPr>
          <p:cNvPr id="57" name="Text 54"/>
          <p:cNvSpPr/>
          <p:nvPr/>
        </p:nvSpPr>
        <p:spPr>
          <a:xfrm>
            <a:off x="9724159" y="7311249"/>
            <a:ext cx="3800829" cy="800100"/>
          </a:xfrm>
          <a:prstGeom prst="rect">
            <a:avLst/>
          </a:prstGeom>
          <a:noFill/>
          <a:ln/>
        </p:spPr>
        <p:txBody>
          <a:bodyPr wrap="square" lIns="25400" tIns="25400" rIns="25400" bIns="25400" rtlCol="0" anchor="t">
            <a:normAutofit/>
          </a:bodyPr>
          <a:lstStyle/>
          <a:p>
            <a:pPr marL="0" indent="0" algn="l">
              <a:buNone/>
            </a:pPr>
            <a:r>
              <a:rPr lang="en-US" sz="2550" b="1" dirty="0">
                <a:solidFill>
                  <a:srgbClr val="EDEDF8"/>
                </a:solidFill>
                <a:latin typeface="-apple-system" pitchFamily="34" charset="0"/>
                <a:ea typeface="-apple-system" pitchFamily="34" charset="-122"/>
                <a:cs typeface="-apple-system" pitchFamily="34" charset="-120"/>
              </a:rPr>
              <a:t>Ready for a technical discovery call?</a:t>
            </a:r>
            <a:endParaRPr lang="en-US" sz="2550" dirty="0"/>
          </a:p>
        </p:txBody>
      </p:sp>
      <p:sp>
        <p:nvSpPr>
          <p:cNvPr id="58" name="Text 55"/>
          <p:cNvSpPr/>
          <p:nvPr/>
        </p:nvSpPr>
        <p:spPr>
          <a:xfrm>
            <a:off x="9724159" y="8187441"/>
            <a:ext cx="3800829" cy="1317887"/>
          </a:xfrm>
          <a:prstGeom prst="rect">
            <a:avLst/>
          </a:prstGeom>
          <a:noFill/>
          <a:ln/>
        </p:spPr>
        <p:txBody>
          <a:bodyPr wrap="square" lIns="25400" tIns="25400" rIns="25400" bIns="25400" rtlCol="0" anchor="t">
            <a:normAutofit/>
          </a:bodyPr>
          <a:lstStyle/>
          <a:p>
            <a:pPr marL="0" indent="0" algn="l">
              <a:lnSpc>
                <a:spcPct val="160000"/>
              </a:lnSpc>
              <a:buNone/>
            </a:pPr>
            <a:r>
              <a:rPr lang="en-US" sz="2100" dirty="0">
                <a:solidFill>
                  <a:srgbClr val="8888A8"/>
                </a:solidFill>
                <a:latin typeface="-apple-system" pitchFamily="34" charset="0"/>
                <a:ea typeface="-apple-system" pitchFamily="34" charset="-122"/>
                <a:cs typeface="-apple-system" pitchFamily="34" charset="-120"/>
              </a:rPr>
              <a:t>Bring your architecture diagram. We'll show you what Prism resolves in 48 hours.</a:t>
            </a:r>
            <a:endParaRPr lang="en-US" sz="2100" dirty="0"/>
          </a:p>
        </p:txBody>
      </p:sp>
      <p:sp>
        <p:nvSpPr>
          <p:cNvPr id="59" name="Shape 56"/>
          <p:cNvSpPr/>
          <p:nvPr/>
        </p:nvSpPr>
        <p:spPr>
          <a:xfrm>
            <a:off x="13718977" y="7851495"/>
            <a:ext cx="3226864" cy="692727"/>
          </a:xfrm>
          <a:prstGeom prst="roundRect">
            <a:avLst>
              <a:gd name="adj" fmla="val 13750"/>
            </a:avLst>
          </a:prstGeom>
          <a:solidFill>
            <a:srgbClr val="5E6AD2"/>
          </a:solidFill>
          <a:ln/>
          <a:effectLst>
            <a:outerShdw blurRad="228600" dist="50800" dir="16200000" algn="bl" rotWithShape="0">
              <a:srgbClr val="5E6AD2">
                <a:alpha val="45000"/>
              </a:srgbClr>
            </a:outerShdw>
          </a:effectLst>
        </p:spPr>
        <p:txBody>
          <a:bodyPr/>
          <a:lstStyle/>
          <a:p>
            <a:endParaRPr lang="en-US"/>
          </a:p>
        </p:txBody>
      </p:sp>
      <p:sp>
        <p:nvSpPr>
          <p:cNvPr id="60" name="Text 57"/>
          <p:cNvSpPr/>
          <p:nvPr/>
        </p:nvSpPr>
        <p:spPr>
          <a:xfrm>
            <a:off x="14051574" y="8041995"/>
            <a:ext cx="2561670" cy="349827"/>
          </a:xfrm>
          <a:prstGeom prst="rect">
            <a:avLst/>
          </a:prstGeom>
          <a:noFill/>
          <a:ln/>
        </p:spPr>
        <p:txBody>
          <a:bodyPr wrap="square" lIns="25400" tIns="25400" rIns="25400" bIns="25400" rtlCol="0" anchor="t">
            <a:normAutofit/>
          </a:bodyPr>
          <a:lstStyle/>
          <a:p>
            <a:pPr marL="0" indent="0" algn="ctr">
              <a:buNone/>
            </a:pPr>
            <a:r>
              <a:rPr lang="en-US" sz="2100" b="1" kern="0" spc="-21" dirty="0">
                <a:solidFill>
                  <a:srgbClr val="FFFFFF"/>
                </a:solidFill>
                <a:latin typeface="-apple-system" pitchFamily="34" charset="0"/>
                <a:ea typeface="-apple-system" pitchFamily="34" charset="-122"/>
                <a:cs typeface="-apple-system" pitchFamily="34" charset="-120"/>
              </a:rPr>
              <a:t>Open Prism</a:t>
            </a:r>
            <a:endParaRPr lang="en-US" sz="2100" dirty="0"/>
          </a:p>
        </p:txBody>
      </p:sp>
      <p:sp>
        <p:nvSpPr>
          <p:cNvPr id="61" name="Text 58"/>
          <p:cNvSpPr/>
          <p:nvPr/>
        </p:nvSpPr>
        <p:spPr>
          <a:xfrm>
            <a:off x="13670574" y="8658414"/>
            <a:ext cx="3323670" cy="306532"/>
          </a:xfrm>
          <a:prstGeom prst="rect">
            <a:avLst/>
          </a:prstGeom>
          <a:noFill/>
          <a:ln/>
        </p:spPr>
        <p:txBody>
          <a:bodyPr wrap="square" lIns="25400" tIns="25400" rIns="25400" bIns="25400" rtlCol="0" anchor="t">
            <a:normAutofit/>
          </a:bodyPr>
          <a:lstStyle/>
          <a:p>
            <a:pPr marL="0" indent="0" algn="ctr">
              <a:buNone/>
            </a:pPr>
            <a:r>
              <a:rPr lang="en-US" sz="1800" dirty="0">
                <a:solidFill>
                  <a:srgbClr val="42425A"/>
                </a:solidFill>
                <a:latin typeface="Arial" pitchFamily="34" charset="0"/>
                <a:ea typeface="Arial" pitchFamily="34" charset="-122"/>
                <a:cs typeface="Arial" pitchFamily="34" charset="-120"/>
              </a:rPr>
              <a:t>30-minute call · No commitment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1290</Words>
  <Application>Microsoft Macintosh PowerPoint</Application>
  <PresentationFormat>Custom</PresentationFormat>
  <Paragraphs>206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-apple-system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saijayanth reddy Ailoni</cp:lastModifiedBy>
  <cp:revision>2</cp:revision>
  <dcterms:created xsi:type="dcterms:W3CDTF">2026-05-01T05:17:56Z</dcterms:created>
  <dcterms:modified xsi:type="dcterms:W3CDTF">2026-05-01T11:35:31Z</dcterms:modified>
</cp:coreProperties>
</file>